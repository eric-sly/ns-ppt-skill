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sldIdLst>
    <p:sldId id="4413" r:id="rId3"/>
    <p:sldId id="4510" r:id="rId4"/>
    <p:sldId id="4511" r:id="rId5"/>
    <p:sldId id="4513" r:id="rId6"/>
    <p:sldId id="4519" r:id="rId11"/>
    <p:sldId id="4522"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22" d="100"/>
          <a:sy n="122" d="100"/>
        </p:scale>
        <p:origin x="427" y="115"/>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2" Type="http://schemas.openxmlformats.org/officeDocument/2006/relationships/slideMaster" Target="slideMasters/slideMaster2.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9" Type="http://schemas.openxmlformats.org/officeDocument/2006/relationships/viewProps" Target="viewProps.xml"/><Relationship Id="rId4"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2026/7/17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2026/7/17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2026/7/17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2026/7/17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2026/7/17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2026/7/17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2026/7/17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2026/7/17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2026/7/17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2026/7/17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2026/7/17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6C47A815-C417-44B5-9B4C-1C28B77CA164}" type="datetimeFigureOut">
              <a:rPr lang="zh-CN" altLang="en-US" smtClean="0"/>
              <a:t>2026/7/17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13056861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C47A815-C417-44B5-9B4C-1C28B77CA164}" type="datetimeFigureOut">
              <a:rPr lang="zh-CN" altLang="en-US" smtClean="0"/>
              <a:t>2026/7/17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26150502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C47A815-C417-44B5-9B4C-1C28B77CA164}" type="datetimeFigureOut">
              <a:rPr lang="zh-CN" altLang="en-US" smtClean="0"/>
              <a:t>2026/7/17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37678896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C47A815-C417-44B5-9B4C-1C28B77CA164}" type="datetimeFigureOut">
              <a:rPr lang="zh-CN" altLang="en-US" smtClean="0"/>
              <a:t>2026/7/17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10559564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6C47A815-C417-44B5-9B4C-1C28B77CA164}" type="datetimeFigureOut">
              <a:rPr lang="zh-CN" altLang="en-US" smtClean="0"/>
              <a:t>2026/7/17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28413070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C47A815-C417-44B5-9B4C-1C28B77CA164}" type="datetimeFigureOut">
              <a:rPr lang="zh-CN" altLang="en-US" smtClean="0"/>
              <a:t>2026/7/17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38085943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47A815-C417-44B5-9B4C-1C28B77CA164}" type="datetimeFigureOut">
              <a:rPr lang="zh-CN" altLang="en-US" smtClean="0"/>
              <a:t>2026/7/17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19750102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C47A815-C417-44B5-9B4C-1C28B77CA164}" type="datetimeFigureOut">
              <a:rPr lang="zh-CN" altLang="en-US" smtClean="0"/>
              <a:t>2026/7/17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8557140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C47A815-C417-44B5-9B4C-1C28B77CA164}" type="datetimeFigureOut">
              <a:rPr lang="zh-CN" altLang="en-US" smtClean="0"/>
              <a:t>2026/7/17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39634190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C47A815-C417-44B5-9B4C-1C28B77CA164}" type="datetimeFigureOut">
              <a:rPr lang="zh-CN" altLang="en-US" smtClean="0"/>
              <a:t>2026/7/17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11849525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C47A815-C417-44B5-9B4C-1C28B77CA164}" type="datetimeFigureOut">
              <a:rPr lang="zh-CN" altLang="en-US" smtClean="0"/>
              <a:t>2026/7/17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1983318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2026/7/17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47A815-C417-44B5-9B4C-1C28B77CA164}" type="datetimeFigureOut">
              <a:rPr lang="zh-CN" altLang="en-US" smtClean="0"/>
              <a:t>2026/7/17</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52121274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science.org/doi/10.1126/science.adu0703" TargetMode="External"/><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hyperlink" Target="https://www.science.org/doi/10.1126/science.aeb6479" TargetMode="External"/><Relationship Id="rId2" Type="http://schemas.openxmlformats.org/officeDocument/2006/relationships/image" Target="../media/image1.png"/><Relationship Id="rId1" Type="http://schemas.openxmlformats.org/officeDocument/2006/relationships/slideLayout" Target="../slideLayouts/slideLayout13.xml"/><Relationship Id="rId5" Type="http://schemas.openxmlformats.org/officeDocument/2006/relationships/hyperlink" Target="https://www.science.org/doi/10.1126/science.aeb7970" TargetMode="External"/><Relationship Id="rId4" Type="http://schemas.openxmlformats.org/officeDocument/2006/relationships/hyperlink" Target="https://www.science.org/doi/10.1126/science.aeb7969"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www.science.org/doi/10.1126/science.aea0628" TargetMode="External"/><Relationship Id="rId3" Type="http://schemas.openxmlformats.org/officeDocument/2006/relationships/hyperlink" Target="https://www.science.org/doi/10.1126/science.aea2370" TargetMode="External"/><Relationship Id="rId7" Type="http://schemas.openxmlformats.org/officeDocument/2006/relationships/hyperlink" Target="https://www.science.org/doi/10.1126/science.adv4939" TargetMode="External"/><Relationship Id="rId2" Type="http://schemas.openxmlformats.org/officeDocument/2006/relationships/image" Target="../media/image1.png"/><Relationship Id="rId1" Type="http://schemas.openxmlformats.org/officeDocument/2006/relationships/slideLayout" Target="../slideLayouts/slideLayout13.xml"/><Relationship Id="rId6" Type="http://schemas.openxmlformats.org/officeDocument/2006/relationships/hyperlink" Target="https://www.science.org/doi/10.1126/science.aea2382" TargetMode="External"/><Relationship Id="rId5" Type="http://schemas.openxmlformats.org/officeDocument/2006/relationships/hyperlink" Target="https://www.science.org/doi/10.1126/science.adt9536" TargetMode="External"/><Relationship Id="rId4" Type="http://schemas.openxmlformats.org/officeDocument/2006/relationships/hyperlink" Target="https://www.science.org/doi/10.1126/science.adu8846" TargetMode="External"/><Relationship Id="rId9" Type="http://schemas.openxmlformats.org/officeDocument/2006/relationships/hyperlink" Target="https://www.science.org/doi/10.1126/science.adm7066"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science.org/doi/10.1126/science.adg1128" TargetMode="External"/><Relationship Id="rId7" Type="http://schemas.openxmlformats.org/officeDocument/2006/relationships/hyperlink" Target="https://www.science.org/doi/10.1126/science.adu8846" TargetMode="External"/><Relationship Id="rId2" Type="http://schemas.openxmlformats.org/officeDocument/2006/relationships/image" Target="../media/image1.png"/><Relationship Id="rId1" Type="http://schemas.openxmlformats.org/officeDocument/2006/relationships/slideLayout" Target="../slideLayouts/slideLayout13.xml"/><Relationship Id="rId6" Type="http://schemas.openxmlformats.org/officeDocument/2006/relationships/hyperlink" Target="https://www.science.org/doi/10.1126/science.adt5663" TargetMode="External"/><Relationship Id="rId5" Type="http://schemas.openxmlformats.org/officeDocument/2006/relationships/hyperlink" Target="https://www.science.org/doi/10.1126/science.adp5384" TargetMode="External"/><Relationship Id="rId4" Type="http://schemas.openxmlformats.org/officeDocument/2006/relationships/hyperlink" Target="https://www.science.org/doi/10.1126/science.adm7066"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science.org/doi/10.1126/science.aeb7641" TargetMode="External"/><Relationship Id="rId1" Type="http://schemas.openxmlformats.org/officeDocument/2006/relationships/slideLayout" Target="../slideLayouts/slideLayout13.xml"/><Relationship Id="rId4" Type="http://schemas.openxmlformats.org/officeDocument/2006/relationships/hyperlink" Target="https://doi.org/10.1126/sciadv.adx9030"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science.org/doi/10.1126/science.aeb7642" TargetMode="External"/><Relationship Id="rId1" Type="http://schemas.openxmlformats.org/officeDocument/2006/relationships/slideLayout" Target="../slideLayouts/slideLayout13.xml"/><Relationship Id="rId4" Type="http://schemas.openxmlformats.org/officeDocument/2006/relationships/hyperlink" Target="https://doi.org/10.1038/s41593-025-02008-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614363"/>
          </a:xfrm>
        </p:spPr>
        <p:txBody>
          <a:bodyPr>
            <a:normAutofit fontScale="90000"/>
          </a:bodyPr>
          <a:lstStyle/>
          <a:p>
            <a:r>
              <a:rPr lang="en-US" altLang="zh-CN" b="1" dirty="0"/>
              <a:t>Science                      Volume 389|Issue 6763|28 Aug 2025</a:t>
            </a:r>
            <a:endParaRPr lang="zh-CN" altLang="en-US" dirty="0"/>
          </a:p>
        </p:txBody>
      </p:sp>
      <p:pic>
        <p:nvPicPr>
          <p:cNvPr id="9" name="内容占位符 7"/>
          <p:cNvPicPr>
            <a:picLocks noChangeAspect="1"/>
          </p:cNvPicPr>
          <p:nvPr/>
        </p:nvPicPr>
        <p:blipFill>
          <a:blip r:embed="rId2"/>
          <a:stretch>
            <a:fillRect/>
          </a:stretch>
        </p:blipFill>
        <p:spPr>
          <a:xfrm>
            <a:off x="64680" y="614363"/>
            <a:ext cx="4694649" cy="5975350"/>
          </a:xfrm>
          <a:prstGeom prst="rect">
            <a:avLst/>
          </a:prstGeom>
        </p:spPr>
      </p:pic>
      <p:sp>
        <p:nvSpPr>
          <p:cNvPr id="10" name="内容占位符 9"/>
          <p:cNvSpPr>
            <a:spLocks noGrp="1"/>
          </p:cNvSpPr>
          <p:nvPr>
            <p:ph idx="1"/>
          </p:nvPr>
        </p:nvSpPr>
        <p:spPr>
          <a:xfrm>
            <a:off x="4913874" y="614363"/>
            <a:ext cx="6594471" cy="6121288"/>
          </a:xfrm>
        </p:spPr>
        <p:txBody>
          <a:bodyPr>
            <a:normAutofit fontScale="92500" lnSpcReduction="10000"/>
          </a:bodyPr>
          <a:lstStyle/>
          <a:p>
            <a:pPr marL="0" indent="0">
              <a:buNone/>
            </a:pPr>
            <a:r>
              <a:rPr lang="en-US" altLang="zh-CN" b="1" dirty="0"/>
              <a:t>COVER </a:t>
            </a:r>
            <a:r>
              <a:rPr lang="en-US" altLang="zh-CN" dirty="0"/>
              <a:t>Bison move through Yellowstone’s Lamar Valley at sunrise. Their movements and grazing accelerate the nitrogen cycle, increasing the annual nutrition that plants provide to herbivores. After decades of recovery, bison now add heterogeneity that sustains soil nutrient storage and plant productivity while allowing plant communities to become more diverse, highlighting the importance of restoring native grazers in large numbers and with freedom to move. See page </a:t>
            </a:r>
            <a:r>
              <a:rPr lang="en-US" altLang="zh-CN" dirty="0">
                <a:hlinkClick r:id="rId3"/>
              </a:rPr>
              <a:t>904</a:t>
            </a:r>
            <a:r>
              <a:rPr lang="en-US" altLang="zh-CN" dirty="0"/>
              <a:t>.</a:t>
            </a:r>
          </a:p>
          <a:p>
            <a:pPr marL="0" indent="0">
              <a:buNone/>
            </a:pPr>
            <a:r>
              <a:rPr lang="zh-CN" altLang="en-US" dirty="0"/>
              <a:t>野牛在日出时穿过黄石公园的拉马尔山谷。它们的活动和放牧加速了氮循环，增加了植物为食草动物提供的年度营养。经过数十年的恢复，野牛现在增加了异质性，可以维持土壤养分储存和植物生产力，同时使植物群落变得更加多样化，这凸显了恢复大量本地食草动物和自由移动的重要性。</a:t>
            </a:r>
          </a:p>
        </p:txBody>
      </p:sp>
    </p:spTree>
    <p:extLst>
      <p:ext uri="{BB962C8B-B14F-4D97-AF65-F5344CB8AC3E}">
        <p14:creationId xmlns:p14="http://schemas.microsoft.com/office/powerpoint/2010/main" val="1890186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614363"/>
          </a:xfrm>
        </p:spPr>
        <p:txBody>
          <a:bodyPr>
            <a:normAutofit fontScale="90000"/>
          </a:bodyPr>
          <a:lstStyle/>
          <a:p>
            <a:r>
              <a:rPr lang="en-US" altLang="zh-CN" b="1" dirty="0"/>
              <a:t>Science                      Volume 389|Issue 6763|28 Aug 2025</a:t>
            </a:r>
            <a:endParaRPr lang="zh-CN" altLang="en-US" dirty="0"/>
          </a:p>
        </p:txBody>
      </p:sp>
      <p:pic>
        <p:nvPicPr>
          <p:cNvPr id="9" name="内容占位符 7"/>
          <p:cNvPicPr>
            <a:picLocks noChangeAspect="1"/>
          </p:cNvPicPr>
          <p:nvPr/>
        </p:nvPicPr>
        <p:blipFill>
          <a:blip r:embed="rId2"/>
          <a:stretch>
            <a:fillRect/>
          </a:stretch>
        </p:blipFill>
        <p:spPr>
          <a:xfrm>
            <a:off x="1" y="6014434"/>
            <a:ext cx="662764" cy="843566"/>
          </a:xfrm>
          <a:prstGeom prst="rect">
            <a:avLst/>
          </a:prstGeom>
        </p:spPr>
      </p:pic>
      <p:sp>
        <p:nvSpPr>
          <p:cNvPr id="10" name="内容占位符 9"/>
          <p:cNvSpPr>
            <a:spLocks noGrp="1"/>
          </p:cNvSpPr>
          <p:nvPr>
            <p:ph idx="1"/>
          </p:nvPr>
        </p:nvSpPr>
        <p:spPr>
          <a:xfrm>
            <a:off x="662766" y="614363"/>
            <a:ext cx="10845580" cy="6121288"/>
          </a:xfrm>
        </p:spPr>
        <p:txBody>
          <a:bodyPr>
            <a:normAutofit lnSpcReduction="10000"/>
          </a:bodyPr>
          <a:lstStyle/>
          <a:p>
            <a:pPr marL="0" indent="0">
              <a:buNone/>
            </a:pPr>
            <a:r>
              <a:rPr lang="en-US" altLang="zh-CN" b="1" cap="all" dirty="0"/>
              <a:t>Editorial  </a:t>
            </a:r>
            <a:r>
              <a:rPr lang="zh-CN" altLang="en-US" b="1" cap="all" dirty="0"/>
              <a:t>社论</a:t>
            </a:r>
          </a:p>
          <a:p>
            <a:pPr marL="0" indent="0">
              <a:buNone/>
            </a:pPr>
            <a:r>
              <a:rPr lang="en-US" altLang="zh-CN" b="1" dirty="0">
                <a:hlinkClick r:id="rId3"/>
              </a:rPr>
              <a:t>Taking nuclear energy to the Moon </a:t>
            </a:r>
            <a:r>
              <a:rPr lang="zh-CN" altLang="en-US" b="1" dirty="0">
                <a:hlinkClick r:id="rId3"/>
              </a:rPr>
              <a:t>将核能带到月球</a:t>
            </a:r>
            <a:endParaRPr lang="en-US" altLang="zh-CN" b="1" dirty="0"/>
          </a:p>
          <a:p>
            <a:pPr marL="0" indent="0">
              <a:buNone/>
            </a:pPr>
            <a:r>
              <a:rPr lang="en-US" altLang="zh-CN" b="1" cap="all" dirty="0"/>
              <a:t>In Depth</a:t>
            </a:r>
          </a:p>
          <a:p>
            <a:pPr marL="0" indent="0">
              <a:buNone/>
            </a:pPr>
            <a:r>
              <a:rPr lang="en-US" altLang="zh-CN" b="1" dirty="0">
                <a:hlinkClick r:id="rId4"/>
              </a:rPr>
              <a:t>AI hypotheses lag human ones when put to the test</a:t>
            </a:r>
            <a:br>
              <a:rPr lang="en-US" altLang="zh-CN" b="1" dirty="0">
                <a:hlinkClick r:id="rId4"/>
              </a:rPr>
            </a:br>
            <a:r>
              <a:rPr lang="zh-CN" altLang="en-US" b="1" dirty="0">
                <a:hlinkClick r:id="rId4"/>
              </a:rPr>
              <a:t>人工智能假设在接受测试时落后于人类假设</a:t>
            </a:r>
            <a:endParaRPr lang="zh-CN" altLang="en-US" b="1" dirty="0"/>
          </a:p>
          <a:p>
            <a:r>
              <a:rPr lang="en-US" altLang="zh-CN" dirty="0"/>
              <a:t>Machines still face hurdles in identifying fresh research paths, study suggests</a:t>
            </a:r>
            <a:br>
              <a:rPr lang="en-US" altLang="zh-CN" dirty="0"/>
            </a:br>
            <a:r>
              <a:rPr lang="zh-CN" altLang="en-US" dirty="0"/>
              <a:t>研究表明，机器在确定新的研究路径方面仍面临障碍</a:t>
            </a:r>
          </a:p>
          <a:p>
            <a:pPr marL="0" indent="0">
              <a:buNone/>
            </a:pPr>
            <a:r>
              <a:rPr lang="en-US" altLang="zh-CN" b="1" dirty="0">
                <a:hlinkClick r:id="rId5"/>
              </a:rPr>
              <a:t>New clues found about the assembly of life’s first proteins</a:t>
            </a:r>
            <a:br>
              <a:rPr lang="en-US" altLang="zh-CN" b="1" dirty="0">
                <a:hlinkClick r:id="rId5"/>
              </a:rPr>
            </a:br>
            <a:r>
              <a:rPr lang="zh-CN" altLang="en-US" b="1" dirty="0">
                <a:hlinkClick r:id="rId5"/>
              </a:rPr>
              <a:t>发现了关于生命第一批蛋白质组装的新线索</a:t>
            </a:r>
            <a:endParaRPr lang="zh-CN" altLang="en-US" b="1" dirty="0"/>
          </a:p>
          <a:p>
            <a:r>
              <a:rPr lang="en-US" altLang="zh-CN" dirty="0"/>
              <a:t>Lab study shows how RNA could have helped amino acids join up—without preexisting protein machinery</a:t>
            </a:r>
            <a:br>
              <a:rPr lang="en-US" altLang="zh-CN" dirty="0"/>
            </a:br>
            <a:r>
              <a:rPr lang="zh-CN" altLang="en-US" dirty="0"/>
              <a:t>实验室研究表明，</a:t>
            </a:r>
            <a:r>
              <a:rPr lang="en-US" altLang="zh-CN" dirty="0"/>
              <a:t>RNA </a:t>
            </a:r>
            <a:r>
              <a:rPr lang="zh-CN" altLang="en-US" dirty="0"/>
              <a:t>如何帮助氨基酸连接</a:t>
            </a:r>
            <a:r>
              <a:rPr lang="en-US" altLang="zh-CN" dirty="0"/>
              <a:t>——</a:t>
            </a:r>
            <a:r>
              <a:rPr lang="zh-CN" altLang="en-US" dirty="0"/>
              <a:t>而无需预先存在的蛋白质机制</a:t>
            </a:r>
          </a:p>
          <a:p>
            <a:pPr marL="0" indent="0">
              <a:buNone/>
            </a:pPr>
            <a:endParaRPr lang="zh-CN" altLang="en-US" b="1" dirty="0"/>
          </a:p>
        </p:txBody>
      </p:sp>
    </p:spTree>
    <p:extLst>
      <p:ext uri="{BB962C8B-B14F-4D97-AF65-F5344CB8AC3E}">
        <p14:creationId xmlns:p14="http://schemas.microsoft.com/office/powerpoint/2010/main" val="4276191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614363"/>
          </a:xfrm>
        </p:spPr>
        <p:txBody>
          <a:bodyPr>
            <a:normAutofit fontScale="90000"/>
          </a:bodyPr>
          <a:lstStyle/>
          <a:p>
            <a:r>
              <a:rPr lang="en-US" altLang="zh-CN" b="1" dirty="0"/>
              <a:t>Science </a:t>
            </a:r>
            <a:r>
              <a:rPr lang="en-US" altLang="zh-CN" b="1" u="sng" dirty="0">
                <a:solidFill>
                  <a:srgbClr val="FFC000"/>
                </a:solidFill>
              </a:rPr>
              <a:t>Perspectives</a:t>
            </a:r>
            <a:r>
              <a:rPr lang="en-US" altLang="zh-CN" b="1" dirty="0"/>
              <a:t> Volume 389|Issue 6763|28 Aug 2025</a:t>
            </a:r>
            <a:endParaRPr lang="zh-CN" altLang="en-US" dirty="0"/>
          </a:p>
        </p:txBody>
      </p:sp>
      <p:pic>
        <p:nvPicPr>
          <p:cNvPr id="9" name="内容占位符 7"/>
          <p:cNvPicPr>
            <a:picLocks noChangeAspect="1"/>
          </p:cNvPicPr>
          <p:nvPr/>
        </p:nvPicPr>
        <p:blipFill>
          <a:blip r:embed="rId2"/>
          <a:stretch>
            <a:fillRect/>
          </a:stretch>
        </p:blipFill>
        <p:spPr>
          <a:xfrm>
            <a:off x="1" y="6014434"/>
            <a:ext cx="662764" cy="843566"/>
          </a:xfrm>
          <a:prstGeom prst="rect">
            <a:avLst/>
          </a:prstGeom>
        </p:spPr>
      </p:pic>
      <p:sp>
        <p:nvSpPr>
          <p:cNvPr id="10" name="内容占位符 9"/>
          <p:cNvSpPr>
            <a:spLocks noGrp="1"/>
          </p:cNvSpPr>
          <p:nvPr>
            <p:ph idx="1"/>
          </p:nvPr>
        </p:nvSpPr>
        <p:spPr>
          <a:xfrm>
            <a:off x="662766" y="614363"/>
            <a:ext cx="10845580" cy="6121288"/>
          </a:xfrm>
        </p:spPr>
        <p:txBody>
          <a:bodyPr>
            <a:normAutofit fontScale="77500" lnSpcReduction="20000"/>
          </a:bodyPr>
          <a:lstStyle/>
          <a:p>
            <a:pPr marL="0" indent="0">
              <a:buNone/>
            </a:pPr>
            <a:r>
              <a:rPr lang="en-US" altLang="zh-CN" b="1" dirty="0">
                <a:hlinkClick r:id="rId3"/>
              </a:rPr>
              <a:t>Mapping the anatomy of placebo analgesia </a:t>
            </a:r>
            <a:r>
              <a:rPr lang="zh-CN" altLang="en-US" b="1" dirty="0">
                <a:hlinkClick r:id="rId3"/>
              </a:rPr>
              <a:t>绘制安慰剂镇痛的解剖结构</a:t>
            </a:r>
            <a:endParaRPr lang="zh-CN" altLang="en-US" b="1" dirty="0"/>
          </a:p>
          <a:p>
            <a:r>
              <a:rPr lang="en-US" altLang="zh-CN" dirty="0"/>
              <a:t>The identification of </a:t>
            </a:r>
            <a:r>
              <a:rPr lang="en-US" altLang="zh-CN" dirty="0" err="1"/>
              <a:t>somatotopy</a:t>
            </a:r>
            <a:r>
              <a:rPr lang="en-US" altLang="zh-CN" dirty="0"/>
              <a:t> in brainstem pain modulatory pathways could help treat chronic pain</a:t>
            </a:r>
            <a:br>
              <a:rPr lang="en-US" altLang="zh-CN" dirty="0"/>
            </a:br>
            <a:r>
              <a:rPr lang="zh-CN" altLang="en-US" dirty="0"/>
              <a:t>在脑干疼痛调节途径中识别体体可帮助治疗慢性疼痛</a:t>
            </a:r>
          </a:p>
          <a:p>
            <a:pPr lvl="1"/>
            <a:r>
              <a:rPr lang="en-US" altLang="zh-CN" b="1" cap="all" dirty="0"/>
              <a:t>RELATED Research Article </a:t>
            </a:r>
            <a:r>
              <a:rPr lang="en-US" altLang="zh-CN" b="1" dirty="0" err="1">
                <a:hlinkClick r:id="rId4"/>
              </a:rPr>
              <a:t>Somatotopic</a:t>
            </a:r>
            <a:r>
              <a:rPr lang="en-US" altLang="zh-CN" b="1" dirty="0">
                <a:hlinkClick r:id="rId4"/>
              </a:rPr>
              <a:t> organization of brainstem analgesic circuitry </a:t>
            </a:r>
            <a:r>
              <a:rPr lang="zh-CN" altLang="en-US" b="1" dirty="0">
                <a:hlinkClick r:id="rId4"/>
              </a:rPr>
              <a:t>脑干镇痛回路的体质组织</a:t>
            </a:r>
            <a:endParaRPr lang="zh-CN" altLang="en-US" b="1" dirty="0"/>
          </a:p>
          <a:p>
            <a:pPr marL="0" indent="0">
              <a:buNone/>
            </a:pPr>
            <a:r>
              <a:rPr lang="en-US" altLang="zh-CN" b="1" dirty="0">
                <a:hlinkClick r:id="rId5"/>
              </a:rPr>
              <a:t>Sustainable personal cooling in a warming world </a:t>
            </a:r>
            <a:r>
              <a:rPr lang="zh-CN" altLang="en-US" b="1" dirty="0">
                <a:hlinkClick r:id="rId5"/>
              </a:rPr>
              <a:t>变暖世界中的可持续个人冷却</a:t>
            </a:r>
            <a:endParaRPr lang="zh-CN" altLang="en-US" b="1" dirty="0"/>
          </a:p>
          <a:p>
            <a:r>
              <a:rPr lang="en-US" altLang="zh-CN" dirty="0"/>
              <a:t>Advanced textiles and intelligent wearable devices can provide cooling under extreme heat</a:t>
            </a:r>
            <a:br>
              <a:rPr lang="en-US" altLang="zh-CN" dirty="0"/>
            </a:br>
            <a:r>
              <a:rPr lang="zh-CN" altLang="en-US" dirty="0"/>
              <a:t>先进的纺织品和智能可穿戴设备可以在极端高温下提供冷却</a:t>
            </a:r>
          </a:p>
          <a:p>
            <a:pPr marL="0" indent="0">
              <a:buNone/>
            </a:pPr>
            <a:r>
              <a:rPr lang="en-US" altLang="zh-CN" b="1" dirty="0">
                <a:hlinkClick r:id="rId6"/>
              </a:rPr>
              <a:t>Vegetation steers a river’s path </a:t>
            </a:r>
            <a:r>
              <a:rPr lang="zh-CN" altLang="en-US" b="1" dirty="0">
                <a:hlinkClick r:id="rId6"/>
              </a:rPr>
              <a:t>植被引导河流的路径</a:t>
            </a:r>
            <a:endParaRPr lang="zh-CN" altLang="en-US" b="1" dirty="0"/>
          </a:p>
          <a:p>
            <a:r>
              <a:rPr lang="en-US" altLang="zh-CN" dirty="0"/>
              <a:t>Evolution of plants could have modified ancient river trajectories</a:t>
            </a:r>
            <a:br>
              <a:rPr lang="en-US" altLang="zh-CN" dirty="0"/>
            </a:br>
            <a:r>
              <a:rPr lang="zh-CN" altLang="en-US" dirty="0"/>
              <a:t>植物的进化可能改变了古代河流的轨迹</a:t>
            </a:r>
          </a:p>
          <a:p>
            <a:pPr lvl="1"/>
            <a:r>
              <a:rPr lang="en-US" altLang="zh-CN" b="1" cap="all" dirty="0"/>
              <a:t>RELATED Research Article </a:t>
            </a:r>
            <a:r>
              <a:rPr lang="en-US" altLang="zh-CN" b="1" dirty="0">
                <a:hlinkClick r:id="rId7"/>
              </a:rPr>
              <a:t>Vegetation changes the trajectory of river bends</a:t>
            </a:r>
            <a:br>
              <a:rPr lang="en-US" altLang="zh-CN" b="1" dirty="0">
                <a:hlinkClick r:id="rId7"/>
              </a:rPr>
            </a:br>
            <a:r>
              <a:rPr lang="zh-CN" altLang="en-US" b="1" dirty="0">
                <a:hlinkClick r:id="rId7"/>
              </a:rPr>
              <a:t>植被改变河道弯道的轨迹</a:t>
            </a:r>
            <a:endParaRPr lang="zh-CN" altLang="en-US" b="1" dirty="0"/>
          </a:p>
          <a:p>
            <a:pPr marL="0" indent="0">
              <a:lnSpc>
                <a:spcPct val="120000"/>
              </a:lnSpc>
              <a:buNone/>
            </a:pPr>
            <a:r>
              <a:rPr lang="en-US" altLang="zh-CN" b="1" dirty="0">
                <a:hlinkClick r:id="rId8"/>
              </a:rPr>
              <a:t>Penetrance and variant consequences—Two sides of the same coin?</a:t>
            </a:r>
            <a:br>
              <a:rPr lang="en-US" altLang="zh-CN" b="1" dirty="0">
                <a:hlinkClick r:id="rId8"/>
              </a:rPr>
            </a:br>
            <a:r>
              <a:rPr lang="zh-CN" altLang="en-US" b="1" dirty="0">
                <a:hlinkClick r:id="rId8"/>
              </a:rPr>
              <a:t>外显率和变异后果</a:t>
            </a:r>
            <a:r>
              <a:rPr lang="en-US" altLang="zh-CN" b="1" dirty="0">
                <a:hlinkClick r:id="rId8"/>
              </a:rPr>
              <a:t>——</a:t>
            </a:r>
            <a:r>
              <a:rPr lang="zh-CN" altLang="en-US" b="1" dirty="0">
                <a:hlinkClick r:id="rId8"/>
              </a:rPr>
              <a:t>同一枚硬币的两面？</a:t>
            </a:r>
            <a:endParaRPr lang="zh-CN" altLang="en-US" b="1" dirty="0"/>
          </a:p>
          <a:p>
            <a:pPr>
              <a:lnSpc>
                <a:spcPct val="120000"/>
              </a:lnSpc>
            </a:pPr>
            <a:r>
              <a:rPr lang="en-US" altLang="zh-CN" dirty="0"/>
              <a:t>To get more out of genome sequences, the effects of variants need to be quantified</a:t>
            </a:r>
            <a:br>
              <a:rPr lang="en-US" altLang="zh-CN" dirty="0"/>
            </a:br>
            <a:r>
              <a:rPr lang="zh-CN" altLang="en-US" dirty="0"/>
              <a:t>为了从基因组序列中获得更多收益，需要量化变异的影响</a:t>
            </a:r>
          </a:p>
          <a:p>
            <a:pPr lvl="1"/>
            <a:r>
              <a:rPr lang="en-US" altLang="zh-CN" b="1" cap="all" dirty="0"/>
              <a:t>RELATED Research Article </a:t>
            </a:r>
            <a:r>
              <a:rPr lang="en-US" altLang="zh-CN" b="1" dirty="0">
                <a:hlinkClick r:id="rId9"/>
              </a:rPr>
              <a:t>Machine learning–based penetrance of genetic variants</a:t>
            </a:r>
            <a:br>
              <a:rPr lang="en-US" altLang="zh-CN" b="1" dirty="0">
                <a:hlinkClick r:id="rId9"/>
              </a:rPr>
            </a:br>
            <a:r>
              <a:rPr lang="zh-CN" altLang="en-US" b="1" dirty="0">
                <a:hlinkClick r:id="rId9"/>
              </a:rPr>
              <a:t>基于机器学习的遗传变异外显率</a:t>
            </a:r>
            <a:endParaRPr lang="zh-CN" altLang="en-US" b="1" dirty="0"/>
          </a:p>
          <a:p>
            <a:pPr marL="0" indent="0">
              <a:buNone/>
            </a:pPr>
            <a:endParaRPr lang="zh-CN" altLang="en-US" b="1" dirty="0"/>
          </a:p>
        </p:txBody>
      </p:sp>
    </p:spTree>
    <p:extLst>
      <p:ext uri="{BB962C8B-B14F-4D97-AF65-F5344CB8AC3E}">
        <p14:creationId xmlns:p14="http://schemas.microsoft.com/office/powerpoint/2010/main" val="960925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614363"/>
          </a:xfrm>
        </p:spPr>
        <p:txBody>
          <a:bodyPr>
            <a:normAutofit fontScale="90000"/>
          </a:bodyPr>
          <a:lstStyle/>
          <a:p>
            <a:r>
              <a:rPr lang="en-US" altLang="zh-CN" b="1" dirty="0"/>
              <a:t>Science </a:t>
            </a:r>
            <a:r>
              <a:rPr lang="en-US" altLang="zh-CN" b="1" u="sng" dirty="0">
                <a:solidFill>
                  <a:srgbClr val="FFC000"/>
                </a:solidFill>
              </a:rPr>
              <a:t>Res Articles</a:t>
            </a:r>
            <a:r>
              <a:rPr lang="en-US" altLang="zh-CN" b="1" dirty="0"/>
              <a:t> Volume 389|Issue 6763|28 Aug 2025</a:t>
            </a:r>
            <a:endParaRPr lang="zh-CN" altLang="en-US" dirty="0"/>
          </a:p>
        </p:txBody>
      </p:sp>
      <p:pic>
        <p:nvPicPr>
          <p:cNvPr id="9" name="内容占位符 7"/>
          <p:cNvPicPr>
            <a:picLocks noChangeAspect="1"/>
          </p:cNvPicPr>
          <p:nvPr/>
        </p:nvPicPr>
        <p:blipFill>
          <a:blip r:embed="rId2"/>
          <a:stretch>
            <a:fillRect/>
          </a:stretch>
        </p:blipFill>
        <p:spPr>
          <a:xfrm>
            <a:off x="1" y="6014434"/>
            <a:ext cx="662764" cy="843566"/>
          </a:xfrm>
          <a:prstGeom prst="rect">
            <a:avLst/>
          </a:prstGeom>
        </p:spPr>
      </p:pic>
      <p:sp>
        <p:nvSpPr>
          <p:cNvPr id="10" name="内容占位符 9"/>
          <p:cNvSpPr>
            <a:spLocks noGrp="1"/>
          </p:cNvSpPr>
          <p:nvPr>
            <p:ph idx="1"/>
          </p:nvPr>
        </p:nvSpPr>
        <p:spPr>
          <a:xfrm>
            <a:off x="662766" y="614363"/>
            <a:ext cx="10845580" cy="6121288"/>
          </a:xfrm>
        </p:spPr>
        <p:txBody>
          <a:bodyPr>
            <a:normAutofit/>
          </a:bodyPr>
          <a:lstStyle/>
          <a:p>
            <a:r>
              <a:rPr lang="en-US" altLang="zh-CN" b="1" dirty="0">
                <a:hlinkClick r:id="rId3"/>
              </a:rPr>
              <a:t>Septal LYVE1</a:t>
            </a:r>
            <a:r>
              <a:rPr lang="en-US" altLang="zh-CN" b="1" baseline="30000" dirty="0">
                <a:hlinkClick r:id="rId3"/>
              </a:rPr>
              <a:t>+</a:t>
            </a:r>
            <a:r>
              <a:rPr lang="en-US" altLang="zh-CN" b="1" dirty="0">
                <a:hlinkClick r:id="rId3"/>
              </a:rPr>
              <a:t> macrophages control adipocyte stem cell </a:t>
            </a:r>
            <a:r>
              <a:rPr lang="en-US" altLang="zh-CN" b="1" dirty="0" err="1">
                <a:hlinkClick r:id="rId3"/>
              </a:rPr>
              <a:t>adipogenic</a:t>
            </a:r>
            <a:r>
              <a:rPr lang="en-US" altLang="zh-CN" b="1" dirty="0">
                <a:hlinkClick r:id="rId3"/>
              </a:rPr>
              <a:t> potential</a:t>
            </a:r>
            <a:br>
              <a:rPr lang="en-US" altLang="zh-CN" b="1" dirty="0">
                <a:hlinkClick r:id="rId3"/>
              </a:rPr>
            </a:br>
            <a:r>
              <a:rPr lang="zh-CN" altLang="en-US" b="1" dirty="0">
                <a:hlinkClick r:id="rId3"/>
              </a:rPr>
              <a:t>隔膜 </a:t>
            </a:r>
            <a:r>
              <a:rPr lang="en-US" altLang="zh-CN" b="1" dirty="0">
                <a:hlinkClick r:id="rId3"/>
              </a:rPr>
              <a:t>LYVE1</a:t>
            </a:r>
            <a:r>
              <a:rPr lang="en-US" altLang="zh-CN" b="1" baseline="30000" dirty="0">
                <a:hlinkClick r:id="rId3"/>
              </a:rPr>
              <a:t>+</a:t>
            </a:r>
            <a:r>
              <a:rPr lang="en-US" altLang="zh-CN" b="1" dirty="0">
                <a:hlinkClick r:id="rId3"/>
              </a:rPr>
              <a:t> </a:t>
            </a:r>
            <a:r>
              <a:rPr lang="zh-CN" altLang="en-US" b="1" dirty="0">
                <a:hlinkClick r:id="rId3"/>
              </a:rPr>
              <a:t>巨噬细胞控制脂肪细胞干细胞产脂潜力</a:t>
            </a:r>
            <a:endParaRPr lang="zh-CN" altLang="en-US" b="1" dirty="0"/>
          </a:p>
          <a:p>
            <a:r>
              <a:rPr lang="en-US" altLang="zh-CN" b="1" dirty="0">
                <a:hlinkClick r:id="rId4"/>
              </a:rPr>
              <a:t>Machine learning–based penetrance of genetic variants</a:t>
            </a:r>
            <a:br>
              <a:rPr lang="en-US" altLang="zh-CN" b="1" dirty="0">
                <a:hlinkClick r:id="rId4"/>
              </a:rPr>
            </a:br>
            <a:r>
              <a:rPr lang="zh-CN" altLang="en-US" b="1" dirty="0">
                <a:hlinkClick r:id="rId4"/>
              </a:rPr>
              <a:t>基于机器学习的遗传变异外显率</a:t>
            </a:r>
            <a:endParaRPr lang="zh-CN" altLang="en-US" b="1" dirty="0"/>
          </a:p>
          <a:p>
            <a:r>
              <a:rPr lang="en-US" altLang="zh-CN" b="1" dirty="0">
                <a:hlinkClick r:id="rId5"/>
              </a:rPr>
              <a:t>A hypoxia-responsive </a:t>
            </a:r>
            <a:r>
              <a:rPr lang="en-US" altLang="zh-CN" b="1" dirty="0" err="1">
                <a:hlinkClick r:id="rId5"/>
              </a:rPr>
              <a:t>tRNA</a:t>
            </a:r>
            <a:r>
              <a:rPr lang="en-US" altLang="zh-CN" b="1" dirty="0">
                <a:hlinkClick r:id="rId5"/>
              </a:rPr>
              <a:t>-derived small RNA confers renal protection through RNA autophagy</a:t>
            </a:r>
            <a:br>
              <a:rPr lang="en-US" altLang="zh-CN" b="1" dirty="0">
                <a:hlinkClick r:id="rId5"/>
              </a:rPr>
            </a:br>
            <a:r>
              <a:rPr lang="zh-CN" altLang="en-US" b="1" dirty="0">
                <a:hlinkClick r:id="rId5"/>
              </a:rPr>
              <a:t>缺氧反应性 </a:t>
            </a:r>
            <a:r>
              <a:rPr lang="en-US" altLang="zh-CN" b="1" dirty="0" err="1">
                <a:hlinkClick r:id="rId5"/>
              </a:rPr>
              <a:t>tRNA</a:t>
            </a:r>
            <a:r>
              <a:rPr lang="en-US" altLang="zh-CN" b="1" dirty="0">
                <a:hlinkClick r:id="rId5"/>
              </a:rPr>
              <a:t> </a:t>
            </a:r>
            <a:r>
              <a:rPr lang="zh-CN" altLang="en-US" b="1" dirty="0">
                <a:hlinkClick r:id="rId5"/>
              </a:rPr>
              <a:t>衍生的小 </a:t>
            </a:r>
            <a:r>
              <a:rPr lang="en-US" altLang="zh-CN" b="1" dirty="0">
                <a:hlinkClick r:id="rId5"/>
              </a:rPr>
              <a:t>RNA </a:t>
            </a:r>
            <a:r>
              <a:rPr lang="zh-CN" altLang="en-US" b="1" dirty="0">
                <a:hlinkClick r:id="rId5"/>
              </a:rPr>
              <a:t>通过 </a:t>
            </a:r>
            <a:r>
              <a:rPr lang="en-US" altLang="zh-CN" b="1" dirty="0">
                <a:hlinkClick r:id="rId5"/>
              </a:rPr>
              <a:t>RNA </a:t>
            </a:r>
            <a:r>
              <a:rPr lang="zh-CN" altLang="en-US" b="1" dirty="0">
                <a:hlinkClick r:id="rId5"/>
              </a:rPr>
              <a:t>自噬赋予肾脏保护</a:t>
            </a:r>
            <a:endParaRPr lang="zh-CN" altLang="en-US" b="1" dirty="0"/>
          </a:p>
          <a:p>
            <a:r>
              <a:rPr lang="en-US" altLang="zh-CN" b="1" dirty="0">
                <a:hlinkClick r:id="rId6"/>
              </a:rPr>
              <a:t>Transcription factors SP5 and SP8 drive primary cilia formation in mammalian embryos</a:t>
            </a:r>
            <a:br>
              <a:rPr lang="en-US" altLang="zh-CN" b="1" dirty="0">
                <a:hlinkClick r:id="rId6"/>
              </a:rPr>
            </a:br>
            <a:r>
              <a:rPr lang="zh-CN" altLang="en-US" b="1" dirty="0">
                <a:hlinkClick r:id="rId6"/>
              </a:rPr>
              <a:t>转录因子 </a:t>
            </a:r>
            <a:r>
              <a:rPr lang="en-US" altLang="zh-CN" b="1" dirty="0">
                <a:hlinkClick r:id="rId6"/>
              </a:rPr>
              <a:t>SP5 </a:t>
            </a:r>
            <a:r>
              <a:rPr lang="zh-CN" altLang="en-US" b="1" dirty="0">
                <a:hlinkClick r:id="rId6"/>
              </a:rPr>
              <a:t>和 </a:t>
            </a:r>
            <a:r>
              <a:rPr lang="en-US" altLang="zh-CN" b="1" dirty="0">
                <a:hlinkClick r:id="rId6"/>
              </a:rPr>
              <a:t>SP8 </a:t>
            </a:r>
            <a:r>
              <a:rPr lang="zh-CN" altLang="en-US" b="1" dirty="0">
                <a:hlinkClick r:id="rId6"/>
              </a:rPr>
              <a:t>驱动哺乳动物胚胎中原级纤毛的形成</a:t>
            </a:r>
            <a:endParaRPr lang="zh-CN" altLang="en-US" b="1" dirty="0"/>
          </a:p>
          <a:p>
            <a:r>
              <a:rPr lang="en-US" altLang="zh-CN" b="1" dirty="0" err="1">
                <a:hlinkClick r:id="rId7"/>
              </a:rPr>
              <a:t>Somatotopic</a:t>
            </a:r>
            <a:r>
              <a:rPr lang="en-US" altLang="zh-CN" b="1" dirty="0">
                <a:hlinkClick r:id="rId7"/>
              </a:rPr>
              <a:t> organization of brainstem analgesic circuitry</a:t>
            </a:r>
            <a:br>
              <a:rPr lang="en-US" altLang="zh-CN" b="1" dirty="0">
                <a:hlinkClick r:id="rId7"/>
              </a:rPr>
            </a:br>
            <a:r>
              <a:rPr lang="zh-CN" altLang="en-US" b="1" dirty="0">
                <a:hlinkClick r:id="rId7"/>
              </a:rPr>
              <a:t>脑干镇痛回路的体质组织</a:t>
            </a:r>
            <a:endParaRPr lang="zh-CN" altLang="en-US" b="1" dirty="0"/>
          </a:p>
        </p:txBody>
      </p:sp>
    </p:spTree>
    <p:extLst>
      <p:ext uri="{BB962C8B-B14F-4D97-AF65-F5344CB8AC3E}">
        <p14:creationId xmlns:p14="http://schemas.microsoft.com/office/powerpoint/2010/main" val="833051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614363"/>
          </a:xfrm>
        </p:spPr>
        <p:txBody>
          <a:bodyPr>
            <a:normAutofit fontScale="90000"/>
          </a:bodyPr>
          <a:lstStyle/>
          <a:p>
            <a:r>
              <a:rPr lang="en-US" altLang="zh-CN" b="1" dirty="0">
                <a:hlinkClick r:id="rId2"/>
              </a:rPr>
              <a:t>In Science Journals</a:t>
            </a:r>
            <a:r>
              <a:rPr lang="en-US" altLang="zh-CN" b="1" dirty="0"/>
              <a:t> Volume 389|Issue 6763|28 Aug 2025</a:t>
            </a:r>
            <a:endParaRPr lang="zh-CN" altLang="en-US" dirty="0"/>
          </a:p>
        </p:txBody>
      </p:sp>
      <p:pic>
        <p:nvPicPr>
          <p:cNvPr id="9" name="内容占位符 7"/>
          <p:cNvPicPr>
            <a:picLocks noChangeAspect="1"/>
          </p:cNvPicPr>
          <p:nvPr/>
        </p:nvPicPr>
        <p:blipFill>
          <a:blip r:embed="rId3"/>
          <a:stretch>
            <a:fillRect/>
          </a:stretch>
        </p:blipFill>
        <p:spPr>
          <a:xfrm>
            <a:off x="1" y="6014434"/>
            <a:ext cx="662764" cy="843566"/>
          </a:xfrm>
          <a:prstGeom prst="rect">
            <a:avLst/>
          </a:prstGeom>
        </p:spPr>
      </p:pic>
      <p:sp>
        <p:nvSpPr>
          <p:cNvPr id="10" name="内容占位符 9"/>
          <p:cNvSpPr>
            <a:spLocks noGrp="1"/>
          </p:cNvSpPr>
          <p:nvPr>
            <p:ph idx="1"/>
          </p:nvPr>
        </p:nvSpPr>
        <p:spPr>
          <a:xfrm>
            <a:off x="662766" y="614363"/>
            <a:ext cx="10845580" cy="6121288"/>
          </a:xfrm>
        </p:spPr>
        <p:txBody>
          <a:bodyPr>
            <a:normAutofit fontScale="77500" lnSpcReduction="20000"/>
          </a:bodyPr>
          <a:lstStyle/>
          <a:p>
            <a:pPr marL="0" indent="0">
              <a:buNone/>
            </a:pPr>
            <a:r>
              <a:rPr lang="en-US" altLang="zh-CN" b="1" cap="all" dirty="0"/>
              <a:t>Alzheimer’s Disease  </a:t>
            </a:r>
            <a:r>
              <a:rPr lang="zh-CN" altLang="en-US" b="1" cap="all" dirty="0"/>
              <a:t>阿尔茨海默病</a:t>
            </a:r>
            <a:r>
              <a:rPr lang="en-US" altLang="zh-CN" b="1" dirty="0"/>
              <a:t>Assembly of prefibrillar amyloids</a:t>
            </a:r>
            <a:br>
              <a:rPr lang="en-US" altLang="zh-CN" b="1" dirty="0"/>
            </a:br>
            <a:r>
              <a:rPr lang="zh-CN" altLang="en-US" b="1" dirty="0"/>
              <a:t>前纤维淀粉样蛋白的组装</a:t>
            </a:r>
          </a:p>
          <a:p>
            <a:r>
              <a:rPr lang="en-US" altLang="zh-CN" dirty="0"/>
              <a:t>The amyloid hypothesis is one of the leading explanations for the cause of Alzheimer’s disease. It proposes that the accumulation of amyloid-</a:t>
            </a:r>
            <a:r>
              <a:rPr lang="el-GR" altLang="zh-CN" dirty="0"/>
              <a:t>β (</a:t>
            </a:r>
            <a:r>
              <a:rPr lang="en-US" altLang="zh-CN" dirty="0"/>
              <a:t>A</a:t>
            </a:r>
            <a:r>
              <a:rPr lang="el-GR" altLang="zh-CN" dirty="0"/>
              <a:t>β) </a:t>
            </a:r>
            <a:r>
              <a:rPr lang="en-US" altLang="zh-CN" dirty="0"/>
              <a:t>peptide oligomers and fibrils in the brain is the primary initiating event that triggers a cascade of neurodegenerative processes. Liang </a:t>
            </a:r>
            <a:r>
              <a:rPr lang="en-US" altLang="zh-CN" i="1" dirty="0"/>
              <a:t>et al.</a:t>
            </a:r>
            <a:r>
              <a:rPr lang="en-US" altLang="zh-CN" dirty="0"/>
              <a:t> conducted time-resolved imaging of the prefibrillar assembly of A</a:t>
            </a:r>
            <a:r>
              <a:rPr lang="el-GR" altLang="zh-CN" dirty="0"/>
              <a:t>β </a:t>
            </a:r>
            <a:r>
              <a:rPr lang="en-US" altLang="zh-CN" dirty="0"/>
              <a:t>using a combination of transmission electron microscopy, </a:t>
            </a:r>
            <a:r>
              <a:rPr lang="en-US" altLang="zh-CN" dirty="0" err="1"/>
              <a:t>cryo</a:t>
            </a:r>
            <a:r>
              <a:rPr lang="en-US" altLang="zh-CN" dirty="0"/>
              <a:t>–electron tomography, atomic force microscopy, and single-particle </a:t>
            </a:r>
            <a:r>
              <a:rPr lang="en-US" altLang="zh-CN" dirty="0" err="1"/>
              <a:t>cryo</a:t>
            </a:r>
            <a:r>
              <a:rPr lang="en-US" altLang="zh-CN" dirty="0"/>
              <a:t>–electron microscopy. The collection of recorded images proposes a universal mechanism of assembly in which all observed structures, from oligomers to curvilinear </a:t>
            </a:r>
            <a:r>
              <a:rPr lang="en-US" altLang="zh-CN" dirty="0" err="1"/>
              <a:t>protofibrils</a:t>
            </a:r>
            <a:r>
              <a:rPr lang="en-US" altLang="zh-CN" dirty="0"/>
              <a:t> and ring-shaped annular assemblies, represent a continuum. Patch-clamp conductance measurements suggested that the observed annular structures form channels that span lipid membranes and increase their ion permeability.</a:t>
            </a:r>
          </a:p>
          <a:p>
            <a:pPr>
              <a:lnSpc>
                <a:spcPct val="120000"/>
              </a:lnSpc>
            </a:pPr>
            <a:r>
              <a:rPr lang="zh-CN" altLang="en-US" dirty="0"/>
              <a:t>淀粉样蛋白假说是阿尔茨海默病病因的主要解释之一。它提出，淀粉样蛋白</a:t>
            </a:r>
            <a:r>
              <a:rPr lang="el-GR" altLang="zh-CN" dirty="0"/>
              <a:t>β </a:t>
            </a:r>
            <a:r>
              <a:rPr lang="zh-CN" altLang="el-GR" dirty="0"/>
              <a:t>（</a:t>
            </a:r>
            <a:r>
              <a:rPr lang="en-US" altLang="zh-CN" dirty="0"/>
              <a:t>A</a:t>
            </a:r>
            <a:r>
              <a:rPr lang="el-GR" altLang="zh-CN" dirty="0"/>
              <a:t>β</a:t>
            </a:r>
            <a:r>
              <a:rPr lang="zh-CN" altLang="el-GR" dirty="0"/>
              <a:t>） </a:t>
            </a:r>
            <a:r>
              <a:rPr lang="zh-CN" altLang="en-US" dirty="0"/>
              <a:t>肽寡聚物和原纤维在大脑中的积累是触发一系列神经退行性过程的主要起始事件。</a:t>
            </a:r>
            <a:r>
              <a:rPr lang="en-US" altLang="zh-CN" dirty="0"/>
              <a:t>Liang</a:t>
            </a:r>
            <a:r>
              <a:rPr lang="en-US" altLang="zh-CN" i="1" dirty="0"/>
              <a:t> </a:t>
            </a:r>
            <a:r>
              <a:rPr lang="zh-CN" altLang="en-US" i="1" dirty="0"/>
              <a:t>等</a:t>
            </a:r>
            <a:r>
              <a:rPr lang="zh-CN" altLang="en-US" dirty="0"/>
              <a:t>人结合透射电子显微镜、冷冻电子断层扫描、原子力显微镜和单颗粒冷冻电子显微镜对 </a:t>
            </a:r>
            <a:r>
              <a:rPr lang="en-US" altLang="zh-CN" dirty="0"/>
              <a:t>A</a:t>
            </a:r>
            <a:r>
              <a:rPr lang="el-GR" altLang="zh-CN" dirty="0"/>
              <a:t>β</a:t>
            </a:r>
            <a:r>
              <a:rPr lang="zh-CN" altLang="en-US" dirty="0"/>
              <a:t>的前纤维组装进行了时间分辨成像。记录图像的集合提出了一种通用的组装机制，其中所有观察到的结构，从低聚物到曲线原原纤维和环形环形组装体，都代表一个连续体。膜片钳电导测量表明，观察到的</a:t>
            </a:r>
            <a:r>
              <a:rPr lang="zh-CN" altLang="en-US" b="1" dirty="0">
                <a:solidFill>
                  <a:srgbClr val="FFC000"/>
                </a:solidFill>
              </a:rPr>
              <a:t>环形结构形成跨越脂质膜的通道并增加其离子渗透性</a:t>
            </a:r>
            <a:r>
              <a:rPr lang="zh-CN" altLang="en-US" dirty="0"/>
              <a:t>。</a:t>
            </a:r>
          </a:p>
          <a:p>
            <a:pPr lvl="1"/>
            <a:r>
              <a:rPr lang="en-US" altLang="zh-CN" i="1" dirty="0"/>
              <a:t>Sci. Adv.</a:t>
            </a:r>
            <a:r>
              <a:rPr lang="en-US" altLang="zh-CN" dirty="0"/>
              <a:t> (2025) </a:t>
            </a:r>
            <a:r>
              <a:rPr lang="en-US" altLang="zh-CN" u="sng" dirty="0">
                <a:hlinkClick r:id="rId4"/>
              </a:rPr>
              <a:t>10.1126/sciadv.adx9030</a:t>
            </a:r>
            <a:endParaRPr lang="en-US" altLang="zh-CN" dirty="0"/>
          </a:p>
          <a:p>
            <a:pPr marL="0" indent="0">
              <a:buNone/>
            </a:pPr>
            <a:endParaRPr lang="zh-CN" altLang="en-US" b="1" dirty="0"/>
          </a:p>
        </p:txBody>
      </p:sp>
    </p:spTree>
    <p:extLst>
      <p:ext uri="{BB962C8B-B14F-4D97-AF65-F5344CB8AC3E}">
        <p14:creationId xmlns:p14="http://schemas.microsoft.com/office/powerpoint/2010/main" val="2236473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614363"/>
          </a:xfrm>
        </p:spPr>
        <p:txBody>
          <a:bodyPr>
            <a:normAutofit fontScale="90000"/>
          </a:bodyPr>
          <a:lstStyle/>
          <a:p>
            <a:r>
              <a:rPr lang="en-US" altLang="zh-CN" b="1" dirty="0">
                <a:hlinkClick r:id="rId2"/>
              </a:rPr>
              <a:t>In Other Journals</a:t>
            </a:r>
            <a:r>
              <a:rPr lang="en-US" altLang="zh-CN" b="1" dirty="0"/>
              <a:t>    Volume 389|Issue 6763|28 Aug 2025</a:t>
            </a:r>
            <a:endParaRPr lang="zh-CN" altLang="en-US" dirty="0"/>
          </a:p>
        </p:txBody>
      </p:sp>
      <p:pic>
        <p:nvPicPr>
          <p:cNvPr id="9" name="内容占位符 7"/>
          <p:cNvPicPr>
            <a:picLocks noChangeAspect="1"/>
          </p:cNvPicPr>
          <p:nvPr/>
        </p:nvPicPr>
        <p:blipFill>
          <a:blip r:embed="rId3"/>
          <a:stretch>
            <a:fillRect/>
          </a:stretch>
        </p:blipFill>
        <p:spPr>
          <a:xfrm>
            <a:off x="1" y="6014434"/>
            <a:ext cx="662764" cy="843566"/>
          </a:xfrm>
          <a:prstGeom prst="rect">
            <a:avLst/>
          </a:prstGeom>
        </p:spPr>
      </p:pic>
      <p:sp>
        <p:nvSpPr>
          <p:cNvPr id="10" name="内容占位符 9"/>
          <p:cNvSpPr>
            <a:spLocks noGrp="1"/>
          </p:cNvSpPr>
          <p:nvPr>
            <p:ph idx="1"/>
          </p:nvPr>
        </p:nvSpPr>
        <p:spPr>
          <a:xfrm>
            <a:off x="662766" y="614363"/>
            <a:ext cx="10845580" cy="6121288"/>
          </a:xfrm>
        </p:spPr>
        <p:txBody>
          <a:bodyPr>
            <a:normAutofit fontScale="85000" lnSpcReduction="20000"/>
          </a:bodyPr>
          <a:lstStyle/>
          <a:p>
            <a:pPr marL="0" indent="0">
              <a:buNone/>
            </a:pPr>
            <a:r>
              <a:rPr lang="en-US" altLang="zh-CN" b="1" cap="all" dirty="0"/>
              <a:t>Immunology  </a:t>
            </a:r>
            <a:r>
              <a:rPr lang="zh-CN" altLang="en-US" b="1" cap="all" dirty="0"/>
              <a:t>免疫学</a:t>
            </a:r>
            <a:r>
              <a:rPr lang="en-US" altLang="zh-CN" b="1" dirty="0"/>
              <a:t>Preventative measures  </a:t>
            </a:r>
            <a:r>
              <a:rPr lang="zh-CN" altLang="en-US" b="1" dirty="0"/>
              <a:t>预防措施</a:t>
            </a:r>
          </a:p>
          <a:p>
            <a:r>
              <a:rPr lang="en-US" altLang="zh-CN" dirty="0"/>
              <a:t>When the human body detects invasion by a pathogen, it triggers immune responses, which include the activation of innate lymphoid cells. But could the brain help the immune system get a head start by warning of likely infection? </a:t>
            </a:r>
            <a:r>
              <a:rPr lang="en-US" altLang="zh-CN" dirty="0" err="1"/>
              <a:t>Trabanelli</a:t>
            </a:r>
            <a:r>
              <a:rPr lang="en-US" altLang="zh-CN" dirty="0"/>
              <a:t> </a:t>
            </a:r>
            <a:r>
              <a:rPr lang="en-US" altLang="zh-CN" i="1" dirty="0"/>
              <a:t>et al</a:t>
            </a:r>
            <a:r>
              <a:rPr lang="en-US" altLang="zh-CN" dirty="0"/>
              <a:t>. exposed healthy participants to virtual reality avatars that showed clear signs of infection and measured the resulting immune responses. Compared with exposure to “healthy” avatars, exposure to the “infectious” avatars was associated with an increase in the amount and activation of lymphocytes in the blood, similar to the response induced by a flu vaccine (a model of actual contact with pathogens). This exploratory finding suggests that a </a:t>
            </a:r>
            <a:r>
              <a:rPr lang="en-US" altLang="zh-CN" dirty="0" err="1"/>
              <a:t>neuroimmune</a:t>
            </a:r>
            <a:r>
              <a:rPr lang="en-US" altLang="zh-CN" dirty="0"/>
              <a:t> reaction can prepare the body for potential infection.</a:t>
            </a:r>
          </a:p>
          <a:p>
            <a:pPr>
              <a:lnSpc>
                <a:spcPct val="120000"/>
              </a:lnSpc>
            </a:pPr>
            <a:r>
              <a:rPr lang="zh-CN" altLang="en-US" dirty="0"/>
              <a:t>当人体检测到病原体的入侵时，它会触发免疫反应，包括激活先天淋巴细胞。但是，大脑能否通过警告可能的感染来帮助免疫系统抢占先机？特拉巴内利</a:t>
            </a:r>
            <a:r>
              <a:rPr lang="zh-CN" altLang="en-US" i="1" dirty="0"/>
              <a:t>等人 </a:t>
            </a:r>
            <a:r>
              <a:rPr lang="zh-CN" altLang="en-US" dirty="0"/>
              <a:t>。让健康参与者接触显示明显感染迹象的虚拟现实化身，并测量由此产生的免疫反应。与接触“健康”化身相比，接触“传染性”化身与血液中淋巴细胞数量和激活的增加有关，类似于流感疫苗（一种与病原体实际接触的模型）诱导的反应。这一探索性发现表明，</a:t>
            </a:r>
            <a:r>
              <a:rPr lang="zh-CN" altLang="en-US" b="1" dirty="0">
                <a:solidFill>
                  <a:srgbClr val="FFC000"/>
                </a:solidFill>
              </a:rPr>
              <a:t>神经免疫反应可以让身体为潜在的感染做好准备</a:t>
            </a:r>
            <a:r>
              <a:rPr lang="zh-CN" altLang="en-US" dirty="0"/>
              <a:t>。</a:t>
            </a:r>
          </a:p>
          <a:p>
            <a:pPr lvl="1"/>
            <a:r>
              <a:rPr lang="en-US" altLang="zh-CN" i="1" dirty="0"/>
              <a:t>Nat. </a:t>
            </a:r>
            <a:r>
              <a:rPr lang="en-US" altLang="zh-CN" i="1" dirty="0" err="1"/>
              <a:t>Neurosci</a:t>
            </a:r>
            <a:r>
              <a:rPr lang="en-US" altLang="zh-CN" i="1" dirty="0"/>
              <a:t>.</a:t>
            </a:r>
            <a:r>
              <a:rPr lang="en-US" altLang="zh-CN" dirty="0"/>
              <a:t> (2025) </a:t>
            </a:r>
            <a:r>
              <a:rPr lang="en-US" altLang="zh-CN" u="sng" dirty="0">
                <a:hlinkClick r:id="rId4"/>
              </a:rPr>
              <a:t>10.1038/s41593-025-02008-y</a:t>
            </a:r>
            <a:endParaRPr lang="en-US" altLang="zh-CN" dirty="0"/>
          </a:p>
          <a:p>
            <a:pPr marL="0" indent="0">
              <a:buNone/>
            </a:pPr>
            <a:endParaRPr lang="zh-CN" altLang="en-US" b="1" dirty="0"/>
          </a:p>
        </p:txBody>
      </p:sp>
    </p:spTree>
    <p:extLst>
      <p:ext uri="{BB962C8B-B14F-4D97-AF65-F5344CB8AC3E}">
        <p14:creationId xmlns:p14="http://schemas.microsoft.com/office/powerpoint/2010/main" val="1407343877"/>
      </p:ext>
    </p:extLst>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自定义 3">
      <a:dk1>
        <a:srgbClr val="000000"/>
      </a:dk1>
      <a:lt1>
        <a:sysClr val="window" lastClr="FFFFFF"/>
      </a:lt1>
      <a:dk2>
        <a:srgbClr val="FFFFFF"/>
      </a:dk2>
      <a:lt2>
        <a:srgbClr val="FFFFFF"/>
      </a:lt2>
      <a:accent1>
        <a:srgbClr val="FFC000"/>
      </a:accent1>
      <a:accent2>
        <a:srgbClr val="ED7D31"/>
      </a:accent2>
      <a:accent3>
        <a:srgbClr val="FFFFFF"/>
      </a:accent3>
      <a:accent4>
        <a:srgbClr val="FFC000"/>
      </a:accent4>
      <a:accent5>
        <a:srgbClr val="4472C4"/>
      </a:accent5>
      <a:accent6>
        <a:srgbClr val="70AD47"/>
      </a:accent6>
      <a:hlink>
        <a:srgbClr val="FFC000"/>
      </a:hlink>
      <a:folHlink>
        <a:srgbClr val="92D050"/>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otalTime>0</TotalTime>
  <Words>4245</Words>
  <Application>Microsoft Office PowerPoint</Application>
  <PresentationFormat>宽屏</PresentationFormat>
  <Paragraphs>104</Paragraphs>
  <Slides>15</Slides>
  <Notes>0</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15</vt:i4>
      </vt:variant>
    </vt:vector>
  </HeadingPairs>
  <TitlesOfParts>
    <vt:vector size="20" baseType="lpstr">
      <vt:lpstr>Arial</vt:lpstr>
      <vt:lpstr>Calibri</vt:lpstr>
      <vt:lpstr>Calibri Light</vt:lpstr>
      <vt:lpstr>WPS</vt:lpstr>
      <vt:lpstr>Office Theme</vt:lpstr>
      <vt:lpstr>Science                      Volume 389|Issue 6763|28 Aug 2025</vt:lpstr>
      <vt:lpstr>Science                      Volume 389|Issue 6763|28 Aug 2025</vt:lpstr>
      <vt:lpstr>Science Perspectives Volume 389|Issue 6763|28 Aug 2025</vt:lpstr>
      <vt:lpstr>Science Res Articles Volume 389|Issue 6763|28 Aug 2025</vt:lpstr>
      <vt:lpstr>Science Res Articles Volume 389|Issue 6763|28 Aug 2025</vt:lpstr>
      <vt:lpstr>Science Res Articles Volume 389|Issue 6763|28 Aug 2025</vt:lpstr>
      <vt:lpstr>In Science Journals Volume 389|Issue 6763|28 Aug 2025</vt:lpstr>
      <vt:lpstr>In Science Journals Volume 389|Issue 6763|28 Aug 2025</vt:lpstr>
      <vt:lpstr>In Science Journals Volume 389|Issue 6763|28 Aug 2025</vt:lpstr>
      <vt:lpstr>In Science Journals Volume 389|Issue 6763|28 Aug 2025</vt:lpstr>
      <vt:lpstr>In Science Journals Volume 389|Issue 6763|28 Aug 2025</vt:lpstr>
      <vt:lpstr>In Science Journals Volume 389|Issue 6763|28 Aug 2025</vt:lpstr>
      <vt:lpstr>In Other Journals    Volume 389|Issue 6763|28 Aug 2025</vt:lpstr>
      <vt:lpstr>In Other Journals    Volume 389|Issue 6763|28 Aug 2025</vt:lpstr>
      <vt:lpstr>In Other Journals    Volume 389|Issue 6763|28 Aug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20</cp:revision>
  <dcterms:created xsi:type="dcterms:W3CDTF">2023-08-09T12:44:00Z</dcterms:created>
  <dcterms:modified xsi:type="dcterms:W3CDTF">2026-07-17T12:35:01Z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ies>
</file>