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4509" r:id="rId3"/>
    <p:sldId id="4480" r:id="rId4"/>
    <p:sldId id="4481" r:id="rId5"/>
    <p:sldId id="4482" r:id="rId6"/>
    <p:sldId id="4483" r:id="rId7"/>
    <p:sldId id="4485" r:id="rId8"/>
    <p:sldId id="4499" r:id="rId9"/>
    <p:sldId id="4500"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22" d="100"/>
          <a:sy n="122" d="100"/>
        </p:scale>
        <p:origin x="427" y="11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608026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586193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3955487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28922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473457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3239188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2395627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9805238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6980442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3266694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C47A815-C417-44B5-9B4C-1C28B77CA164}" type="datetimeFigureOut">
              <a:rPr lang="zh-CN" altLang="en-US" smtClean="0"/>
              <a:t>2026/5/21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528706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47A815-C417-44B5-9B4C-1C28B77CA164}" type="datetimeFigureOut">
              <a:rPr lang="zh-CN" altLang="en-US" smtClean="0"/>
              <a:t>2026/5/21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820FD7-140B-41DC-B88E-E630ADF299C5}" type="slidenum">
              <a:rPr lang="zh-CN" altLang="en-US" smtClean="0"/>
              <a:t>‹#›</a:t>
            </a:fld>
            <a:endParaRPr lang="zh-CN" altLang="en-US"/>
          </a:p>
        </p:txBody>
      </p:sp>
    </p:spTree>
    <p:extLst>
      <p:ext uri="{BB962C8B-B14F-4D97-AF65-F5344CB8AC3E}">
        <p14:creationId xmlns:p14="http://schemas.microsoft.com/office/powerpoint/2010/main" val="12842707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www.nature.com/articles/d41586-025-02685-6" TargetMode="External"/><Relationship Id="rId2" Type="http://schemas.openxmlformats.org/officeDocument/2006/relationships/hyperlink" Target="https://www.nature.com/articles/d41586-025-02684-7" TargetMode="Externa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www.nature.com/articles/d41586-025-02588-6" TargetMode="External"/><Relationship Id="rId2" Type="http://schemas.openxmlformats.org/officeDocument/2006/relationships/hyperlink" Target="https://www.nature.com/articles/d41586-025-02628-1" TargetMode="Externa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hyperlink" Target="https://www.nature.com/articles/d41586-025-02586-8" TargetMode="External"/><Relationship Id="rId4" Type="http://schemas.openxmlformats.org/officeDocument/2006/relationships/hyperlink" Target="https://www.nature.com/articles/d41586-025-02629-0"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nature.com/articles/d41586-025-02585-9" TargetMode="External"/><Relationship Id="rId3" Type="http://schemas.openxmlformats.org/officeDocument/2006/relationships/hyperlink" Target="https://www.nature.com/articles/d41586-025-02587-7" TargetMode="External"/><Relationship Id="rId7" Type="http://schemas.openxmlformats.org/officeDocument/2006/relationships/hyperlink" Target="https://www.nature.com/articles/d41586-025-02472-3" TargetMode="External"/><Relationship Id="rId2" Type="http://schemas.openxmlformats.org/officeDocument/2006/relationships/hyperlink" Target="https://www.nature.com/articles/d41586-025-02578-8" TargetMode="External"/><Relationship Id="rId1" Type="http://schemas.openxmlformats.org/officeDocument/2006/relationships/slideLayout" Target="../slideLayouts/slideLayout13.xml"/><Relationship Id="rId6" Type="http://schemas.openxmlformats.org/officeDocument/2006/relationships/hyperlink" Target="https://www.nature.com/articles/d41586-025-02589-5" TargetMode="External"/><Relationship Id="rId5" Type="http://schemas.openxmlformats.org/officeDocument/2006/relationships/hyperlink" Target="https://www.nature.com/articles/d41586-025-02577-9" TargetMode="External"/><Relationship Id="rId4" Type="http://schemas.openxmlformats.org/officeDocument/2006/relationships/hyperlink" Target="https://www.nature.com/articles/d41586-025-02659-8" TargetMode="External"/><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hyperlink" Target="https://www.nature.com/articles/d41586-025-02636-1" TargetMode="External"/><Relationship Id="rId2" Type="http://schemas.openxmlformats.org/officeDocument/2006/relationships/hyperlink" Target="https://www.nature.com/articles/d41586-025-02635-2" TargetMode="Externa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www.nature.com/articles/d41586-025-02641-4" TargetMode="External"/><Relationship Id="rId2" Type="http://schemas.openxmlformats.org/officeDocument/2006/relationships/image" Target="../media/image1.png"/><Relationship Id="rId1" Type="http://schemas.openxmlformats.org/officeDocument/2006/relationships/slideLayout" Target="../slideLayouts/slideLayout13.xml"/><Relationship Id="rId4" Type="http://schemas.openxmlformats.org/officeDocument/2006/relationships/hyperlink" Target="https://www.nature.com/articles/d41586-025-02642-3"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www.nature.com/articles/d41586-025-02590-y" TargetMode="External"/><Relationship Id="rId3" Type="http://schemas.openxmlformats.org/officeDocument/2006/relationships/hyperlink" Target="https://www.nature.com/articles/d41586-025-02426-9" TargetMode="External"/><Relationship Id="rId7" Type="http://schemas.openxmlformats.org/officeDocument/2006/relationships/hyperlink" Target="https://www.nature.com/articles/d41586-025-02130-8" TargetMode="External"/><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hyperlink" Target="https://www.nature.com/articles/d41586-025-02353-9" TargetMode="External"/><Relationship Id="rId5" Type="http://schemas.openxmlformats.org/officeDocument/2006/relationships/hyperlink" Target="https://www.nature.com/articles/d41586-025-02059-y" TargetMode="External"/><Relationship Id="rId4" Type="http://schemas.openxmlformats.org/officeDocument/2006/relationships/hyperlink" Target="https://www.nature.com/articles/d41586-025-02518-6" TargetMode="External"/><Relationship Id="rId9" Type="http://schemas.openxmlformats.org/officeDocument/2006/relationships/hyperlink" Target="https://www.nature.com/articles/d41586-025-02523-9"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nature.com/articles/s41586-025-09377-1" TargetMode="External"/><Relationship Id="rId2" Type="http://schemas.openxmlformats.org/officeDocument/2006/relationships/image" Target="../media/image1.png"/><Relationship Id="rId1" Type="http://schemas.openxmlformats.org/officeDocument/2006/relationships/slideLayout" Target="../slideLayouts/slideLayout13.xml"/><Relationship Id="rId5" Type="http://schemas.openxmlformats.org/officeDocument/2006/relationships/hyperlink" Target="https://www.nature.com/articles/s41586-025-09446-5" TargetMode="External"/><Relationship Id="rId4" Type="http://schemas.openxmlformats.org/officeDocument/2006/relationships/hyperlink" Target="https://www.nature.com/articles/s41586-025-09363-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Volume 644 Issue 8078, 28 August 2025</a:t>
            </a:r>
            <a:endParaRPr lang="zh-CN" altLang="en-US" dirty="0"/>
          </a:p>
        </p:txBody>
      </p:sp>
      <p:sp>
        <p:nvSpPr>
          <p:cNvPr id="3" name="内容占位符 2"/>
          <p:cNvSpPr>
            <a:spLocks noGrp="1"/>
          </p:cNvSpPr>
          <p:nvPr>
            <p:ph idx="1"/>
          </p:nvPr>
        </p:nvSpPr>
        <p:spPr>
          <a:xfrm>
            <a:off x="4436772" y="746974"/>
            <a:ext cx="7179972" cy="5975797"/>
          </a:xfrm>
        </p:spPr>
        <p:txBody>
          <a:bodyPr>
            <a:normAutofit fontScale="70000" lnSpcReduction="20000"/>
          </a:bodyPr>
          <a:lstStyle/>
          <a:p>
            <a:pPr marL="0" indent="0">
              <a:buNone/>
            </a:pPr>
            <a:r>
              <a:rPr lang="en-US" altLang="zh-CN" dirty="0"/>
              <a:t>Tree’s a crowd  </a:t>
            </a:r>
            <a:r>
              <a:rPr lang="zh-CN" altLang="en-US" dirty="0"/>
              <a:t>树是一群人</a:t>
            </a:r>
          </a:p>
          <a:p>
            <a:pPr marL="0" indent="0">
              <a:buNone/>
            </a:pPr>
            <a:r>
              <a:rPr lang="en-US" altLang="zh-CN" dirty="0"/>
              <a:t>The wood of living trees is the biggest reservoir of biomass on Earth, but its microbiome has largely been unexplored. In this week’s issue, Wyatt Arnold, Jonathan </a:t>
            </a:r>
            <a:r>
              <a:rPr lang="en-US" altLang="zh-CN" dirty="0" err="1"/>
              <a:t>Gewirtzman</a:t>
            </a:r>
            <a:r>
              <a:rPr lang="en-US" altLang="zh-CN" dirty="0"/>
              <a:t> and colleagues probe this uncharted territory, revealing a wealth of microorganisms that make trees their home. The researchers took samples from more than 150 trees in the northeastern United States and found that one tree plays host to about one trillion bacteria in its wood, noting that that the microbiomes were adapted to wood and specialized to individual host tree species. They also identified clear ecological niches, with heartwood and sapwood maintaining distinct microbial communities that bear little resemblance to other plant tissues or ecosystems. — show less</a:t>
            </a:r>
          </a:p>
          <a:p>
            <a:pPr marL="0" indent="0">
              <a:lnSpc>
                <a:spcPct val="120000"/>
              </a:lnSpc>
              <a:buNone/>
            </a:pPr>
            <a:r>
              <a:rPr lang="zh-CN" altLang="en-US" dirty="0"/>
              <a:t>活树的木材是地球上最大的生物质储存库，但其微生物组在很大程度上尚未得到探索。在本周的期刊中， 怀亚特</a:t>
            </a:r>
            <a:r>
              <a:rPr lang="en-US" altLang="zh-CN" dirty="0"/>
              <a:t>·</a:t>
            </a:r>
            <a:r>
              <a:rPr lang="zh-CN" altLang="en-US" dirty="0"/>
              <a:t>阿诺德 （</a:t>
            </a:r>
            <a:r>
              <a:rPr lang="en-US" altLang="zh-CN" dirty="0"/>
              <a:t>Wyatt Arnold</a:t>
            </a:r>
            <a:r>
              <a:rPr lang="zh-CN" altLang="en-US" dirty="0"/>
              <a:t>）、乔纳森</a:t>
            </a:r>
            <a:r>
              <a:rPr lang="en-US" altLang="zh-CN" dirty="0"/>
              <a:t>·</a:t>
            </a:r>
            <a:r>
              <a:rPr lang="zh-CN" altLang="en-US" dirty="0"/>
              <a:t>格维尔茨曼 （</a:t>
            </a:r>
            <a:r>
              <a:rPr lang="en-US" altLang="zh-CN" dirty="0"/>
              <a:t>Jonathan </a:t>
            </a:r>
            <a:r>
              <a:rPr lang="en-US" altLang="zh-CN" dirty="0" err="1"/>
              <a:t>Gewirtzman</a:t>
            </a:r>
            <a:r>
              <a:rPr lang="zh-CN" altLang="en-US" dirty="0"/>
              <a:t>） 及其同事探索了这一未知领域，揭示了以树木为家的大量微生物。研究人员从美国东北部的 </a:t>
            </a:r>
            <a:r>
              <a:rPr lang="en-US" altLang="zh-CN" dirty="0"/>
              <a:t>150 </a:t>
            </a:r>
            <a:r>
              <a:rPr lang="zh-CN" altLang="en-US" dirty="0"/>
              <a:t>多棵树上采集了样本，发现</a:t>
            </a:r>
            <a:r>
              <a:rPr lang="zh-CN" altLang="en-US" b="1" dirty="0">
                <a:solidFill>
                  <a:srgbClr val="FFC000"/>
                </a:solidFill>
              </a:rPr>
              <a:t>一棵树的木材中含有大约一万亿种细菌</a:t>
            </a:r>
            <a:r>
              <a:rPr lang="zh-CN" altLang="en-US" dirty="0"/>
              <a:t>，并指出</a:t>
            </a:r>
            <a:r>
              <a:rPr lang="zh-CN" altLang="en-US" b="1" dirty="0">
                <a:solidFill>
                  <a:srgbClr val="FFC000"/>
                </a:solidFill>
              </a:rPr>
              <a:t>微生物组适应木材并专门针对个别寄主树种</a:t>
            </a:r>
            <a:r>
              <a:rPr lang="zh-CN" altLang="en-US" dirty="0"/>
              <a:t>。他们还确定了明确的生态位，</a:t>
            </a:r>
            <a:r>
              <a:rPr lang="zh-CN" altLang="en-US" b="1" dirty="0">
                <a:solidFill>
                  <a:srgbClr val="FFC000"/>
                </a:solidFill>
              </a:rPr>
              <a:t>心材和边材维持着不同的微生物群落</a:t>
            </a:r>
            <a:r>
              <a:rPr lang="zh-CN" altLang="en-US" dirty="0"/>
              <a:t>，与其他植物组织或生态系统几乎没有相似之处。</a:t>
            </a:r>
          </a:p>
        </p:txBody>
      </p:sp>
      <p:pic>
        <p:nvPicPr>
          <p:cNvPr id="4" name="图片 3"/>
          <p:cNvPicPr>
            <a:picLocks noChangeAspect="1"/>
          </p:cNvPicPr>
          <p:nvPr/>
        </p:nvPicPr>
        <p:blipFill>
          <a:blip r:embed="rId2"/>
          <a:stretch>
            <a:fillRect/>
          </a:stretch>
        </p:blipFill>
        <p:spPr>
          <a:xfrm>
            <a:off x="85323" y="746975"/>
            <a:ext cx="4191000" cy="5562600"/>
          </a:xfrm>
          <a:prstGeom prst="rect">
            <a:avLst/>
          </a:prstGeom>
        </p:spPr>
      </p:pic>
    </p:spTree>
    <p:extLst>
      <p:ext uri="{BB962C8B-B14F-4D97-AF65-F5344CB8AC3E}">
        <p14:creationId xmlns:p14="http://schemas.microsoft.com/office/powerpoint/2010/main" val="2932136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Volume 644 Issue 8078, 28 August 2025</a:t>
            </a:r>
            <a:endParaRPr lang="zh-CN" altLang="en-US" dirty="0"/>
          </a:p>
        </p:txBody>
      </p:sp>
      <p:sp>
        <p:nvSpPr>
          <p:cNvPr id="3" name="内容占位符 2"/>
          <p:cNvSpPr>
            <a:spLocks noGrp="1"/>
          </p:cNvSpPr>
          <p:nvPr>
            <p:ph idx="1"/>
          </p:nvPr>
        </p:nvSpPr>
        <p:spPr>
          <a:xfrm>
            <a:off x="631065" y="746974"/>
            <a:ext cx="10985679" cy="5975797"/>
          </a:xfrm>
        </p:spPr>
        <p:txBody>
          <a:bodyPr>
            <a:normAutofit fontScale="92500" lnSpcReduction="20000"/>
          </a:bodyPr>
          <a:lstStyle/>
          <a:p>
            <a:pPr marL="0" indent="0">
              <a:buNone/>
            </a:pPr>
            <a:r>
              <a:rPr lang="en-US" altLang="zh-CN" b="1" dirty="0"/>
              <a:t>Editorial </a:t>
            </a:r>
            <a:endParaRPr lang="en-US" altLang="zh-CN" dirty="0"/>
          </a:p>
          <a:p>
            <a:pPr marL="0" indent="0">
              <a:buNone/>
            </a:pPr>
            <a:r>
              <a:rPr lang="en-US" altLang="zh-CN" b="1" u="sng" dirty="0">
                <a:hlinkClick r:id="rId2"/>
              </a:rPr>
              <a:t>Hazardous science that helps to save and improve lives needs more support  </a:t>
            </a:r>
            <a:r>
              <a:rPr lang="zh-CN" altLang="en-US" b="1" u="sng" dirty="0">
                <a:hlinkClick r:id="rId2"/>
              </a:rPr>
              <a:t>有助于拯救和改善生命的危险科学需要更多支持</a:t>
            </a:r>
            <a:endParaRPr lang="zh-CN" altLang="en-US" b="1" dirty="0"/>
          </a:p>
          <a:p>
            <a:r>
              <a:rPr lang="en-US" altLang="zh-CN" dirty="0"/>
              <a:t>Research into the </a:t>
            </a:r>
            <a:r>
              <a:rPr lang="en-US" altLang="zh-CN" b="1" dirty="0">
                <a:solidFill>
                  <a:srgbClr val="FFC000"/>
                </a:solidFill>
              </a:rPr>
              <a:t>growing environmental problem of urban gullies </a:t>
            </a:r>
            <a:r>
              <a:rPr lang="en-US" altLang="zh-CN" dirty="0"/>
              <a:t>highlights the challenging conditions under which many socially important studies are done.</a:t>
            </a:r>
            <a:br>
              <a:rPr lang="en-US" altLang="zh-CN" dirty="0"/>
            </a:br>
            <a:r>
              <a:rPr lang="zh-CN" altLang="en-US" dirty="0"/>
              <a:t>对日益严重的</a:t>
            </a:r>
            <a:r>
              <a:rPr lang="zh-CN" altLang="en-US" b="1" dirty="0">
                <a:solidFill>
                  <a:srgbClr val="FFC000"/>
                </a:solidFill>
              </a:rPr>
              <a:t>城市沟壑环境问题</a:t>
            </a:r>
            <a:r>
              <a:rPr lang="zh-CN" altLang="en-US" dirty="0"/>
              <a:t>的研究凸显了许多具有社会重要性的研究所面临的挑战性条件。</a:t>
            </a:r>
          </a:p>
          <a:p>
            <a:pPr marL="0" indent="0">
              <a:buNone/>
            </a:pPr>
            <a:r>
              <a:rPr lang="en-US" altLang="zh-CN" b="1" dirty="0"/>
              <a:t>World View</a:t>
            </a:r>
            <a:endParaRPr lang="en-US" altLang="zh-CN" dirty="0"/>
          </a:p>
          <a:p>
            <a:pPr marL="0" indent="0">
              <a:buNone/>
            </a:pPr>
            <a:r>
              <a:rPr lang="en-US" altLang="zh-CN" b="1" u="sng" dirty="0">
                <a:hlinkClick r:id="rId3"/>
              </a:rPr>
              <a:t>NASA’s Earth-observing satellites are crucial — commercial missions cannot replace them</a:t>
            </a:r>
            <a:br>
              <a:rPr lang="en-US" altLang="zh-CN" b="1" u="sng" dirty="0">
                <a:hlinkClick r:id="rId3"/>
              </a:rPr>
            </a:br>
            <a:r>
              <a:rPr lang="zh-CN" altLang="en-US" b="1" u="sng" dirty="0">
                <a:hlinkClick r:id="rId3"/>
              </a:rPr>
              <a:t>美国宇航局的地球观测卫星至关重要</a:t>
            </a:r>
            <a:r>
              <a:rPr lang="en-US" altLang="zh-CN" b="1" u="sng" dirty="0">
                <a:hlinkClick r:id="rId3"/>
              </a:rPr>
              <a:t>——</a:t>
            </a:r>
            <a:r>
              <a:rPr lang="zh-CN" altLang="en-US" b="1" u="sng" dirty="0">
                <a:hlinkClick r:id="rId3"/>
              </a:rPr>
              <a:t>商业任务无法取代它们</a:t>
            </a:r>
            <a:endParaRPr lang="zh-CN" altLang="en-US" b="1" dirty="0"/>
          </a:p>
          <a:p>
            <a:r>
              <a:rPr lang="en-US" altLang="zh-CN" dirty="0"/>
              <a:t>Private companies can track many changes on Earth from space, but both public and commercial satellite missions are needed to understand and protect the environment.</a:t>
            </a:r>
            <a:br>
              <a:rPr lang="en-US" altLang="zh-CN" dirty="0"/>
            </a:br>
            <a:r>
              <a:rPr lang="zh-CN" altLang="en-US" dirty="0"/>
              <a:t>私营公司可以从太空跟踪地球上的许多变化，但需要公共和商业卫星任务来了解和保护环境。</a:t>
            </a:r>
          </a:p>
        </p:txBody>
      </p:sp>
      <p:pic>
        <p:nvPicPr>
          <p:cNvPr id="4" name="图片 3"/>
          <p:cNvPicPr>
            <a:picLocks noChangeAspect="1"/>
          </p:cNvPicPr>
          <p:nvPr/>
        </p:nvPicPr>
        <p:blipFill>
          <a:blip r:embed="rId4"/>
          <a:stretch>
            <a:fillRect/>
          </a:stretch>
        </p:blipFill>
        <p:spPr>
          <a:xfrm>
            <a:off x="0" y="5911433"/>
            <a:ext cx="713167" cy="946567"/>
          </a:xfrm>
          <a:prstGeom prst="rect">
            <a:avLst/>
          </a:prstGeom>
        </p:spPr>
      </p:pic>
    </p:spTree>
    <p:extLst>
      <p:ext uri="{BB962C8B-B14F-4D97-AF65-F5344CB8AC3E}">
        <p14:creationId xmlns:p14="http://schemas.microsoft.com/office/powerpoint/2010/main" val="936771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a:t>
            </a:r>
            <a:r>
              <a:rPr lang="en-US" altLang="zh-CN" b="1" u="sng" dirty="0">
                <a:solidFill>
                  <a:srgbClr val="FFC000"/>
                </a:solidFill>
              </a:rPr>
              <a:t>Research Highlight</a:t>
            </a:r>
            <a:r>
              <a:rPr lang="en-US" altLang="zh-CN" b="1" dirty="0"/>
              <a:t> Vol 644 Issue 8078, 28 Aug 2025</a:t>
            </a:r>
            <a:endParaRPr lang="zh-CN" altLang="en-US" dirty="0"/>
          </a:p>
        </p:txBody>
      </p:sp>
      <p:sp>
        <p:nvSpPr>
          <p:cNvPr id="3" name="内容占位符 2"/>
          <p:cNvSpPr>
            <a:spLocks noGrp="1"/>
          </p:cNvSpPr>
          <p:nvPr>
            <p:ph idx="1"/>
          </p:nvPr>
        </p:nvSpPr>
        <p:spPr>
          <a:xfrm>
            <a:off x="631065" y="746974"/>
            <a:ext cx="10985679" cy="5975797"/>
          </a:xfrm>
        </p:spPr>
        <p:txBody>
          <a:bodyPr>
            <a:normAutofit fontScale="77500" lnSpcReduction="20000"/>
          </a:bodyPr>
          <a:lstStyle/>
          <a:p>
            <a:pPr marL="0" indent="0">
              <a:buNone/>
            </a:pPr>
            <a:r>
              <a:rPr lang="en-US" altLang="zh-CN" b="1" u="sng" dirty="0">
                <a:hlinkClick r:id="rId2"/>
              </a:rPr>
              <a:t>Human brain organoids reveal new path for Alzheimer’s drugs</a:t>
            </a:r>
            <a:br>
              <a:rPr lang="en-US" altLang="zh-CN" b="1" u="sng" dirty="0">
                <a:hlinkClick r:id="rId2"/>
              </a:rPr>
            </a:br>
            <a:r>
              <a:rPr lang="zh-CN" altLang="en-US" b="1" u="sng" dirty="0">
                <a:hlinkClick r:id="rId2"/>
              </a:rPr>
              <a:t>人脑类器官揭示阿尔茨海默病药物新路径</a:t>
            </a:r>
            <a:endParaRPr lang="zh-CN" altLang="en-US" b="1" dirty="0"/>
          </a:p>
          <a:p>
            <a:r>
              <a:rPr lang="en-US" altLang="zh-CN" dirty="0"/>
              <a:t>Organ models with hallmarks of the disease show marked improvement when a protein’s levels are restored.</a:t>
            </a:r>
            <a:br>
              <a:rPr lang="en-US" altLang="zh-CN" dirty="0"/>
            </a:br>
            <a:r>
              <a:rPr lang="zh-CN" altLang="en-US" dirty="0"/>
              <a:t>当蛋白质水平恢复时，具有该疾病特征的器官模型显示出显着改善。</a:t>
            </a:r>
          </a:p>
          <a:p>
            <a:pPr marL="0" indent="0">
              <a:buNone/>
            </a:pPr>
            <a:r>
              <a:rPr lang="en-US" altLang="zh-CN" b="1" u="sng" dirty="0">
                <a:hlinkClick r:id="rId3"/>
              </a:rPr>
              <a:t>Water in the ‘Devil’s Comet’ shares a source with Earth’s oceans</a:t>
            </a:r>
            <a:br>
              <a:rPr lang="en-US" altLang="zh-CN" b="1" u="sng" dirty="0">
                <a:hlinkClick r:id="rId3"/>
              </a:rPr>
            </a:br>
            <a:r>
              <a:rPr lang="en-US" altLang="zh-CN" b="1" u="sng" dirty="0">
                <a:hlinkClick r:id="rId3"/>
              </a:rPr>
              <a:t>“</a:t>
            </a:r>
            <a:r>
              <a:rPr lang="zh-CN" altLang="en-US" b="1" u="sng" dirty="0">
                <a:hlinkClick r:id="rId3"/>
              </a:rPr>
              <a:t>魔鬼彗星”中的水与地球海洋共享一个源头</a:t>
            </a:r>
            <a:endParaRPr lang="zh-CN" altLang="en-US" b="1" dirty="0"/>
          </a:p>
          <a:p>
            <a:r>
              <a:rPr lang="en-US" altLang="zh-CN" dirty="0"/>
              <a:t>Chemical profiling traces the source of water in one of the brightest known comets to keep returning to the Solar System.</a:t>
            </a:r>
            <a:br>
              <a:rPr lang="en-US" altLang="zh-CN" dirty="0"/>
            </a:br>
            <a:r>
              <a:rPr lang="zh-CN" altLang="en-US" dirty="0"/>
              <a:t>化学分析追踪了已知最亮的彗星之一的水源，以不断返回太阳系。</a:t>
            </a:r>
          </a:p>
          <a:p>
            <a:pPr marL="0" indent="0">
              <a:buNone/>
            </a:pPr>
            <a:r>
              <a:rPr lang="en-US" altLang="zh-CN" b="1" u="sng" dirty="0">
                <a:hlinkClick r:id="rId4"/>
              </a:rPr>
              <a:t>The world’s largest methane emitter manages to curb one source</a:t>
            </a:r>
            <a:br>
              <a:rPr lang="en-US" altLang="zh-CN" b="1" u="sng" dirty="0">
                <a:hlinkClick r:id="rId4"/>
              </a:rPr>
            </a:br>
            <a:r>
              <a:rPr lang="zh-CN" altLang="en-US" b="1" u="sng" dirty="0">
                <a:hlinkClick r:id="rId4"/>
              </a:rPr>
              <a:t>世界上最大的甲烷排放国设法遏制一个来源</a:t>
            </a:r>
            <a:endParaRPr lang="zh-CN" altLang="en-US" b="1" dirty="0"/>
          </a:p>
          <a:p>
            <a:r>
              <a:rPr lang="en-US" altLang="zh-CN" dirty="0"/>
              <a:t>Output of the powerful greenhouse gas by China’s energy sector peaked in 2014, an inventory shows.</a:t>
            </a:r>
            <a:br>
              <a:rPr lang="en-US" altLang="zh-CN" dirty="0"/>
            </a:br>
            <a:r>
              <a:rPr lang="zh-CN" altLang="en-US" dirty="0"/>
              <a:t>一份清单显示，中国能源部门强大的温室气体排放量在</a:t>
            </a:r>
            <a:r>
              <a:rPr lang="en-US" altLang="zh-CN" dirty="0"/>
              <a:t>2014</a:t>
            </a:r>
            <a:r>
              <a:rPr lang="zh-CN" altLang="en-US" dirty="0"/>
              <a:t>年达到顶峰。</a:t>
            </a:r>
          </a:p>
          <a:p>
            <a:pPr marL="0" indent="0">
              <a:buNone/>
            </a:pPr>
            <a:r>
              <a:rPr lang="en-US" altLang="zh-CN" b="1" u="sng" dirty="0">
                <a:hlinkClick r:id="rId5"/>
              </a:rPr>
              <a:t>Tiny Australian predator defies drought to recover from near-extinction</a:t>
            </a:r>
            <a:br>
              <a:rPr lang="en-US" altLang="zh-CN" b="1" u="sng" dirty="0">
                <a:hlinkClick r:id="rId5"/>
              </a:rPr>
            </a:br>
            <a:r>
              <a:rPr lang="zh-CN" altLang="en-US" b="1" u="sng" dirty="0">
                <a:hlinkClick r:id="rId5"/>
              </a:rPr>
              <a:t>澳大利亚小捕食者克服干旱，从濒临灭绝的境地中恢复过来</a:t>
            </a:r>
            <a:endParaRPr lang="zh-CN" altLang="en-US" b="1" dirty="0"/>
          </a:p>
          <a:p>
            <a:r>
              <a:rPr lang="en-US" altLang="zh-CN" dirty="0"/>
              <a:t>Rat-sized carnivore called the </a:t>
            </a:r>
            <a:r>
              <a:rPr lang="en-US" altLang="zh-CN" dirty="0" err="1"/>
              <a:t>ampurta</a:t>
            </a:r>
            <a:r>
              <a:rPr lang="en-US" altLang="zh-CN" dirty="0"/>
              <a:t> makes speedy comeback despite unprecedented drought.</a:t>
            </a:r>
            <a:br>
              <a:rPr lang="en-US" altLang="zh-CN" dirty="0"/>
            </a:br>
            <a:r>
              <a:rPr lang="zh-CN" altLang="en-US" dirty="0"/>
              <a:t>一种名为 </a:t>
            </a:r>
            <a:r>
              <a:rPr lang="en-US" altLang="zh-CN" dirty="0" err="1"/>
              <a:t>Ampurta</a:t>
            </a:r>
            <a:r>
              <a:rPr lang="en-US" altLang="zh-CN" dirty="0"/>
              <a:t> </a:t>
            </a:r>
            <a:r>
              <a:rPr lang="zh-CN" altLang="en-US" dirty="0"/>
              <a:t>的老鼠大小的食肉动物尽管遭受了前所未有的干旱，但仍迅速卷土重来。</a:t>
            </a:r>
          </a:p>
        </p:txBody>
      </p:sp>
      <p:pic>
        <p:nvPicPr>
          <p:cNvPr id="4" name="图片 3"/>
          <p:cNvPicPr>
            <a:picLocks noChangeAspect="1"/>
          </p:cNvPicPr>
          <p:nvPr/>
        </p:nvPicPr>
        <p:blipFill>
          <a:blip r:embed="rId6"/>
          <a:stretch>
            <a:fillRect/>
          </a:stretch>
        </p:blipFill>
        <p:spPr>
          <a:xfrm>
            <a:off x="0" y="5911433"/>
            <a:ext cx="713167" cy="946567"/>
          </a:xfrm>
          <a:prstGeom prst="rect">
            <a:avLst/>
          </a:prstGeom>
        </p:spPr>
      </p:pic>
    </p:spTree>
    <p:extLst>
      <p:ext uri="{BB962C8B-B14F-4D97-AF65-F5344CB8AC3E}">
        <p14:creationId xmlns:p14="http://schemas.microsoft.com/office/powerpoint/2010/main" val="1654432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a:t>
            </a:r>
            <a:r>
              <a:rPr lang="en-US" altLang="zh-CN" b="1" u="sng" dirty="0">
                <a:solidFill>
                  <a:srgbClr val="FFC000"/>
                </a:solidFill>
              </a:rPr>
              <a:t>NEWS</a:t>
            </a:r>
            <a:r>
              <a:rPr lang="en-US" altLang="zh-CN" b="1" dirty="0"/>
              <a:t>        Volume 644 Issue 8078, 28 August 2025</a:t>
            </a:r>
            <a:endParaRPr lang="zh-CN" altLang="en-US" dirty="0"/>
          </a:p>
        </p:txBody>
      </p:sp>
      <p:sp>
        <p:nvSpPr>
          <p:cNvPr id="3" name="内容占位符 2"/>
          <p:cNvSpPr>
            <a:spLocks noGrp="1"/>
          </p:cNvSpPr>
          <p:nvPr>
            <p:ph idx="1"/>
          </p:nvPr>
        </p:nvSpPr>
        <p:spPr>
          <a:xfrm>
            <a:off x="631065" y="746974"/>
            <a:ext cx="10985679" cy="5975797"/>
          </a:xfrm>
        </p:spPr>
        <p:txBody>
          <a:bodyPr>
            <a:normAutofit fontScale="55000" lnSpcReduction="20000"/>
          </a:bodyPr>
          <a:lstStyle/>
          <a:p>
            <a:pPr marL="0" indent="0">
              <a:buNone/>
            </a:pPr>
            <a:r>
              <a:rPr lang="en-US" altLang="zh-CN" b="1" u="sng" dirty="0">
                <a:hlinkClick r:id="rId2"/>
              </a:rPr>
              <a:t>Brain editing now ‘closer to reality’: the gene-altering tools tackling deadly disorders</a:t>
            </a:r>
            <a:br>
              <a:rPr lang="en-US" altLang="zh-CN" b="1" u="sng" dirty="0">
                <a:hlinkClick r:id="rId2"/>
              </a:rPr>
            </a:br>
            <a:r>
              <a:rPr lang="zh-CN" altLang="en-US" b="1" u="sng" dirty="0">
                <a:hlinkClick r:id="rId2"/>
              </a:rPr>
              <a:t>大脑编辑现在“更接近现实”：解决致命疾病的基因改变工具</a:t>
            </a:r>
            <a:endParaRPr lang="zh-CN" altLang="en-US" b="1" dirty="0"/>
          </a:p>
          <a:p>
            <a:r>
              <a:rPr lang="en-US" altLang="zh-CN" dirty="0"/>
              <a:t>Stunning results in mice herald gene-editing advances for neurological diseases.</a:t>
            </a:r>
            <a:br>
              <a:rPr lang="en-US" altLang="zh-CN" dirty="0"/>
            </a:br>
            <a:r>
              <a:rPr lang="zh-CN" altLang="en-US" dirty="0"/>
              <a:t>小鼠的惊人结果预示着神经系统疾病基因编辑的进步。</a:t>
            </a:r>
          </a:p>
          <a:p>
            <a:pPr marL="0" indent="0">
              <a:buNone/>
            </a:pPr>
            <a:r>
              <a:rPr lang="en-US" altLang="zh-CN" b="1" u="sng" dirty="0">
                <a:hlinkClick r:id="rId3"/>
              </a:rPr>
              <a:t>Controversial quantum-computing paper gets hefty correction — but concerns linger</a:t>
            </a:r>
            <a:br>
              <a:rPr lang="en-US" altLang="zh-CN" b="1" u="sng" dirty="0">
                <a:hlinkClick r:id="rId3"/>
              </a:rPr>
            </a:br>
            <a:r>
              <a:rPr lang="zh-CN" altLang="en-US" b="1" u="sng" dirty="0">
                <a:hlinkClick r:id="rId3"/>
              </a:rPr>
              <a:t>有争议的量子计算论文得到大量更正</a:t>
            </a:r>
            <a:r>
              <a:rPr lang="en-US" altLang="zh-CN" b="1" u="sng" dirty="0">
                <a:hlinkClick r:id="rId3"/>
              </a:rPr>
              <a:t>——</a:t>
            </a:r>
            <a:r>
              <a:rPr lang="zh-CN" altLang="en-US" b="1" u="sng" dirty="0">
                <a:hlinkClick r:id="rId3"/>
              </a:rPr>
              <a:t>但担忧依然存在</a:t>
            </a:r>
            <a:endParaRPr lang="zh-CN" altLang="en-US" b="1" dirty="0"/>
          </a:p>
          <a:p>
            <a:r>
              <a:rPr lang="en-US" altLang="zh-CN" dirty="0"/>
              <a:t>The journal </a:t>
            </a:r>
            <a:r>
              <a:rPr lang="en-US" altLang="zh-CN" i="1" dirty="0"/>
              <a:t>Science</a:t>
            </a:r>
            <a:r>
              <a:rPr lang="en-US" altLang="zh-CN" dirty="0"/>
              <a:t> has lifted an expression of concern on a paper claiming evidence of </a:t>
            </a:r>
            <a:r>
              <a:rPr lang="en-US" altLang="zh-CN" dirty="0" err="1"/>
              <a:t>Majorana</a:t>
            </a:r>
            <a:r>
              <a:rPr lang="en-US" altLang="zh-CN" dirty="0"/>
              <a:t> quasiparticles and added new details.</a:t>
            </a:r>
            <a:br>
              <a:rPr lang="en-US" altLang="zh-CN" dirty="0"/>
            </a:br>
            <a:r>
              <a:rPr lang="en-US" altLang="zh-CN" dirty="0"/>
              <a:t>《</a:t>
            </a:r>
            <a:r>
              <a:rPr lang="en-US" altLang="zh-CN" i="1" dirty="0"/>
              <a:t> </a:t>
            </a:r>
            <a:r>
              <a:rPr lang="zh-CN" altLang="en-US" i="1" dirty="0"/>
              <a:t>科学</a:t>
            </a:r>
            <a:r>
              <a:rPr lang="en-US" altLang="zh-CN" i="1" dirty="0"/>
              <a:t>》</a:t>
            </a:r>
            <a:r>
              <a:rPr lang="zh-CN" altLang="en-US" dirty="0"/>
              <a:t> 杂志取消了对一篇声称有马约拉纳准粒子证据的论文的担忧，并添加了新的细节。</a:t>
            </a:r>
          </a:p>
          <a:p>
            <a:pPr marL="0" indent="0">
              <a:buNone/>
            </a:pPr>
            <a:r>
              <a:rPr lang="en-US" altLang="zh-CN" b="1" u="sng" dirty="0">
                <a:hlinkClick r:id="rId4"/>
              </a:rPr>
              <a:t>Why chocolate tastes so good: microbes that fine-tune its </a:t>
            </a:r>
            <a:r>
              <a:rPr lang="en-US" altLang="zh-CN" b="1" u="sng" dirty="0" err="1">
                <a:hlinkClick r:id="rId4"/>
              </a:rPr>
              <a:t>flavour</a:t>
            </a:r>
            <a:r>
              <a:rPr lang="en-US" altLang="zh-CN" b="1" u="sng" dirty="0">
                <a:hlinkClick r:id="rId4"/>
              </a:rPr>
              <a:t> </a:t>
            </a:r>
            <a:r>
              <a:rPr lang="zh-CN" altLang="en-US" b="1" u="sng" dirty="0">
                <a:hlinkClick r:id="rId4"/>
              </a:rPr>
              <a:t>为什么巧克力味道这么好：微调其风味的微生物</a:t>
            </a:r>
            <a:endParaRPr lang="zh-CN" altLang="en-US" b="1" dirty="0"/>
          </a:p>
          <a:p>
            <a:r>
              <a:rPr lang="en-US" altLang="zh-CN" dirty="0"/>
              <a:t>Manipulating the microbial communities involved in cocoa-bean fermentation could make chocolate even more delicious.</a:t>
            </a:r>
            <a:br>
              <a:rPr lang="en-US" altLang="zh-CN" dirty="0"/>
            </a:br>
            <a:r>
              <a:rPr lang="zh-CN" altLang="en-US" dirty="0"/>
              <a:t>纵参与可可豆发酵的微生物群落可以使巧克力更加美味。</a:t>
            </a:r>
          </a:p>
          <a:p>
            <a:pPr marL="0" indent="0">
              <a:buNone/>
            </a:pPr>
            <a:r>
              <a:rPr lang="en-US" altLang="zh-CN" b="1" u="sng" dirty="0">
                <a:hlinkClick r:id="rId5"/>
              </a:rPr>
              <a:t>AI helps assemble ‘brain’ of future quantum computer </a:t>
            </a:r>
            <a:r>
              <a:rPr lang="zh-CN" altLang="en-US" b="1" u="sng" dirty="0">
                <a:hlinkClick r:id="rId5"/>
              </a:rPr>
              <a:t>人工智能帮助组装未来量子计算机的“大脑”</a:t>
            </a:r>
            <a:endParaRPr lang="zh-CN" altLang="en-US" b="1" dirty="0"/>
          </a:p>
          <a:p>
            <a:r>
              <a:rPr lang="en-US" altLang="zh-CN" dirty="0"/>
              <a:t>As a demonstration, artificial-intelligence system helps to make a miniature, high-speed animation of physicists’ </a:t>
            </a:r>
            <a:r>
              <a:rPr lang="en-US" altLang="zh-CN" dirty="0" err="1"/>
              <a:t>favourite</a:t>
            </a:r>
            <a:r>
              <a:rPr lang="en-US" altLang="zh-CN" dirty="0"/>
              <a:t> feline.</a:t>
            </a:r>
            <a:br>
              <a:rPr lang="en-US" altLang="zh-CN" dirty="0"/>
            </a:br>
            <a:r>
              <a:rPr lang="zh-CN" altLang="en-US" dirty="0"/>
              <a:t>作为演示，人工智能系统有助于制作物理学家最喜欢的猫科动物的微型高速动画。</a:t>
            </a:r>
          </a:p>
          <a:p>
            <a:pPr marL="0" indent="0">
              <a:buNone/>
            </a:pPr>
            <a:r>
              <a:rPr lang="en-US" altLang="zh-CN" b="1" u="sng" dirty="0">
                <a:hlinkClick r:id="rId6"/>
              </a:rPr>
              <a:t>A mind-reading brain implant that comes with password protection </a:t>
            </a:r>
            <a:r>
              <a:rPr lang="zh-CN" altLang="en-US" b="1" u="sng" dirty="0">
                <a:hlinkClick r:id="rId6"/>
              </a:rPr>
              <a:t>带有密码保护的读心大脑植入物</a:t>
            </a:r>
            <a:endParaRPr lang="zh-CN" altLang="en-US" b="1" dirty="0"/>
          </a:p>
          <a:p>
            <a:r>
              <a:rPr lang="en-US" altLang="zh-CN" dirty="0"/>
              <a:t>A brain–computer interface decodes in near-real time the imagined speech of people who have difficulty enunciating words.</a:t>
            </a:r>
          </a:p>
          <a:p>
            <a:r>
              <a:rPr lang="zh-CN" altLang="en-US" dirty="0"/>
              <a:t>脑机接口近乎实时地解码发音困难的人想象的语音。</a:t>
            </a:r>
          </a:p>
          <a:p>
            <a:pPr marL="0" indent="0">
              <a:buNone/>
            </a:pPr>
            <a:r>
              <a:rPr lang="en-US" altLang="zh-CN" b="1" u="sng" dirty="0">
                <a:hlinkClick r:id="rId7"/>
              </a:rPr>
              <a:t>The protein craze: scientists talk supplements — and who should take them  </a:t>
            </a:r>
            <a:r>
              <a:rPr lang="zh-CN" altLang="en-US" b="1" u="sng" dirty="0">
                <a:hlinkClick r:id="rId7"/>
              </a:rPr>
              <a:t>蛋白质热潮：科学家谈论补充剂</a:t>
            </a:r>
            <a:r>
              <a:rPr lang="en-US" altLang="zh-CN" b="1" u="sng" dirty="0">
                <a:hlinkClick r:id="rId7"/>
              </a:rPr>
              <a:t>——</a:t>
            </a:r>
            <a:r>
              <a:rPr lang="zh-CN" altLang="en-US" b="1" u="sng" dirty="0">
                <a:hlinkClick r:id="rId7"/>
              </a:rPr>
              <a:t>以及谁应该服用它们</a:t>
            </a:r>
            <a:endParaRPr lang="zh-CN" altLang="en-US" b="1" dirty="0"/>
          </a:p>
          <a:p>
            <a:r>
              <a:rPr lang="en-US" altLang="zh-CN" dirty="0"/>
              <a:t>Most people can get enough protein from food, but certain groups can benefit from protein powders and related products.</a:t>
            </a:r>
          </a:p>
          <a:p>
            <a:r>
              <a:rPr lang="zh-CN" altLang="en-US" dirty="0"/>
              <a:t>大多数人可以从食物中获取足够的蛋白质，但某些群体可以从蛋白粉和相关产品中受益。</a:t>
            </a:r>
          </a:p>
          <a:p>
            <a:pPr marL="0" indent="0">
              <a:buNone/>
            </a:pPr>
            <a:r>
              <a:rPr lang="en-US" altLang="zh-CN" b="1" u="sng" dirty="0">
                <a:hlinkClick r:id="rId8"/>
              </a:rPr>
              <a:t>Watch rappelling robots dive into a lava tube — for science  </a:t>
            </a:r>
            <a:r>
              <a:rPr lang="zh-CN" altLang="en-US" b="1" u="sng" dirty="0">
                <a:hlinkClick r:id="rId8"/>
              </a:rPr>
              <a:t>观看速降机器人潜入熔岩管 </a:t>
            </a:r>
            <a:r>
              <a:rPr lang="en-US" altLang="zh-CN" b="1" u="sng" dirty="0">
                <a:hlinkClick r:id="rId8"/>
              </a:rPr>
              <a:t>— </a:t>
            </a:r>
            <a:r>
              <a:rPr lang="zh-CN" altLang="en-US" b="1" u="sng" dirty="0">
                <a:hlinkClick r:id="rId8"/>
              </a:rPr>
              <a:t>用于科学</a:t>
            </a:r>
            <a:endParaRPr lang="zh-CN" altLang="en-US" b="1" dirty="0"/>
          </a:p>
          <a:p>
            <a:r>
              <a:rPr lang="en-US" altLang="zh-CN" dirty="0"/>
              <a:t>Test run shows how a team of three autonomous robots could search for extraterrestrial environments suitable for sheltering humans.</a:t>
            </a:r>
          </a:p>
          <a:p>
            <a:r>
              <a:rPr lang="zh-CN" altLang="en-US" dirty="0"/>
              <a:t>试运行展示了一个由三个自主机器人组成的团队如何寻找适合庇护人类的外星环境。</a:t>
            </a:r>
          </a:p>
          <a:p>
            <a:endParaRPr lang="zh-CN" altLang="en-US" dirty="0"/>
          </a:p>
        </p:txBody>
      </p:sp>
      <p:pic>
        <p:nvPicPr>
          <p:cNvPr id="4" name="图片 3"/>
          <p:cNvPicPr>
            <a:picLocks noChangeAspect="1"/>
          </p:cNvPicPr>
          <p:nvPr/>
        </p:nvPicPr>
        <p:blipFill>
          <a:blip r:embed="rId9"/>
          <a:stretch>
            <a:fillRect/>
          </a:stretch>
        </p:blipFill>
        <p:spPr>
          <a:xfrm>
            <a:off x="0" y="5911433"/>
            <a:ext cx="713167" cy="946567"/>
          </a:xfrm>
          <a:prstGeom prst="rect">
            <a:avLst/>
          </a:prstGeom>
        </p:spPr>
      </p:pic>
    </p:spTree>
    <p:extLst>
      <p:ext uri="{BB962C8B-B14F-4D97-AF65-F5344CB8AC3E}">
        <p14:creationId xmlns:p14="http://schemas.microsoft.com/office/powerpoint/2010/main" val="132513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a:t>
            </a:r>
            <a:r>
              <a:rPr lang="en-US" altLang="zh-CN" b="1" u="sng" dirty="0">
                <a:solidFill>
                  <a:srgbClr val="FFC000"/>
                </a:solidFill>
              </a:rPr>
              <a:t>NEWS</a:t>
            </a:r>
            <a:r>
              <a:rPr lang="en-US" altLang="zh-CN" b="1" dirty="0"/>
              <a:t>        Volume 644 Issue 8078, 28 August 2025</a:t>
            </a:r>
            <a:endParaRPr lang="zh-CN" altLang="en-US" dirty="0"/>
          </a:p>
        </p:txBody>
      </p:sp>
      <p:sp>
        <p:nvSpPr>
          <p:cNvPr id="3" name="内容占位符 2"/>
          <p:cNvSpPr>
            <a:spLocks noGrp="1"/>
          </p:cNvSpPr>
          <p:nvPr>
            <p:ph idx="1"/>
          </p:nvPr>
        </p:nvSpPr>
        <p:spPr>
          <a:xfrm>
            <a:off x="631065" y="746974"/>
            <a:ext cx="10985679" cy="5975797"/>
          </a:xfrm>
        </p:spPr>
        <p:txBody>
          <a:bodyPr>
            <a:normAutofit/>
          </a:bodyPr>
          <a:lstStyle/>
          <a:p>
            <a:pPr marL="0" indent="0">
              <a:buNone/>
            </a:pPr>
            <a:r>
              <a:rPr lang="en-US" altLang="zh-CN" b="1" dirty="0"/>
              <a:t>News Feature</a:t>
            </a:r>
          </a:p>
          <a:p>
            <a:pPr marL="0" indent="0">
              <a:buNone/>
            </a:pPr>
            <a:r>
              <a:rPr lang="en-US" altLang="zh-CN" b="1" u="sng" dirty="0">
                <a:hlinkClick r:id="rId2"/>
              </a:rPr>
              <a:t>How did life get multicellular? Five simple organisms could have the answer</a:t>
            </a:r>
            <a:br>
              <a:rPr lang="en-US" altLang="zh-CN" b="1" u="sng" dirty="0">
                <a:hlinkClick r:id="rId2"/>
              </a:rPr>
            </a:br>
            <a:r>
              <a:rPr lang="zh-CN" altLang="en-US" b="1" u="sng" dirty="0">
                <a:hlinkClick r:id="rId2"/>
              </a:rPr>
              <a:t>生命是如何变得多细胞的？五种简单的生物体可以给出答案</a:t>
            </a:r>
            <a:endParaRPr lang="zh-CN" altLang="en-US" b="1" dirty="0"/>
          </a:p>
          <a:p>
            <a:r>
              <a:rPr lang="en-US" altLang="zh-CN" dirty="0"/>
              <a:t>Single-celled species that often stick together in colonies have researchers rethinking the origin of animals.</a:t>
            </a:r>
            <a:br>
              <a:rPr lang="en-US" altLang="zh-CN" dirty="0"/>
            </a:br>
            <a:r>
              <a:rPr lang="zh-CN" altLang="en-US" dirty="0"/>
              <a:t>经常成群结队的单细胞物种让研究人员重新思考动物的起源。</a:t>
            </a:r>
          </a:p>
          <a:p>
            <a:pPr marL="0" indent="0">
              <a:buNone/>
            </a:pPr>
            <a:r>
              <a:rPr lang="en-US" altLang="zh-CN" b="1" u="sng" dirty="0">
                <a:hlinkClick r:id="rId3"/>
              </a:rPr>
              <a:t>Autism is on the rise: what’s really behind the increase?</a:t>
            </a:r>
            <a:br>
              <a:rPr lang="en-US" altLang="zh-CN" b="1" u="sng" dirty="0">
                <a:hlinkClick r:id="rId3"/>
              </a:rPr>
            </a:br>
            <a:r>
              <a:rPr lang="zh-CN" altLang="en-US" b="1" u="sng" dirty="0">
                <a:hlinkClick r:id="rId3"/>
              </a:rPr>
              <a:t>自闭症呈上升趋势：增加背后的真正原因是什么？</a:t>
            </a:r>
            <a:endParaRPr lang="zh-CN" altLang="en-US" b="1" dirty="0"/>
          </a:p>
          <a:p>
            <a:r>
              <a:rPr lang="en-US" altLang="zh-CN" dirty="0"/>
              <a:t>RFK Jr has vowed to find out what’s responsible, but scientists say he is ignoring answers from decades of research.</a:t>
            </a:r>
            <a:br>
              <a:rPr lang="en-US" altLang="zh-CN" dirty="0"/>
            </a:br>
            <a:r>
              <a:rPr lang="zh-CN" altLang="en-US" dirty="0"/>
              <a:t>小罗伯特</a:t>
            </a:r>
            <a:r>
              <a:rPr lang="en-US" altLang="zh-CN" dirty="0"/>
              <a:t>·</a:t>
            </a:r>
            <a:r>
              <a:rPr lang="zh-CN" altLang="en-US" dirty="0"/>
              <a:t>肯特肯特发誓要找出罪魁祸首，但科学家们表示，他忽视了数十年研究的答案。</a:t>
            </a:r>
          </a:p>
        </p:txBody>
      </p:sp>
      <p:pic>
        <p:nvPicPr>
          <p:cNvPr id="4" name="图片 3"/>
          <p:cNvPicPr>
            <a:picLocks noChangeAspect="1"/>
          </p:cNvPicPr>
          <p:nvPr/>
        </p:nvPicPr>
        <p:blipFill>
          <a:blip r:embed="rId4"/>
          <a:stretch>
            <a:fillRect/>
          </a:stretch>
        </p:blipFill>
        <p:spPr>
          <a:xfrm>
            <a:off x="0" y="5911433"/>
            <a:ext cx="713167" cy="946567"/>
          </a:xfrm>
          <a:prstGeom prst="rect">
            <a:avLst/>
          </a:prstGeom>
        </p:spPr>
      </p:pic>
    </p:spTree>
    <p:extLst>
      <p:ext uri="{BB962C8B-B14F-4D97-AF65-F5344CB8AC3E}">
        <p14:creationId xmlns:p14="http://schemas.microsoft.com/office/powerpoint/2010/main" val="3833534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a:t>
            </a:r>
            <a:r>
              <a:rPr lang="en-US" altLang="zh-CN" b="1" u="sng" dirty="0">
                <a:solidFill>
                  <a:srgbClr val="FFC000"/>
                </a:solidFill>
              </a:rPr>
              <a:t>Comment</a:t>
            </a:r>
            <a:r>
              <a:rPr lang="en-US" altLang="zh-CN" b="1" dirty="0"/>
              <a:t>  Volume 644 Issue 8078, 28 August 2025</a:t>
            </a:r>
            <a:endParaRPr lang="zh-CN" altLang="en-US" dirty="0"/>
          </a:p>
        </p:txBody>
      </p:sp>
      <p:pic>
        <p:nvPicPr>
          <p:cNvPr id="4" name="图片 3"/>
          <p:cNvPicPr>
            <a:picLocks noChangeAspect="1"/>
          </p:cNvPicPr>
          <p:nvPr/>
        </p:nvPicPr>
        <p:blipFill>
          <a:blip r:embed="rId2"/>
          <a:stretch>
            <a:fillRect/>
          </a:stretch>
        </p:blipFill>
        <p:spPr>
          <a:xfrm>
            <a:off x="0" y="5911433"/>
            <a:ext cx="713167" cy="946567"/>
          </a:xfrm>
          <a:prstGeom prst="rect">
            <a:avLst/>
          </a:prstGeom>
        </p:spPr>
      </p:pic>
      <p:sp>
        <p:nvSpPr>
          <p:cNvPr id="6" name="内容占位符 5"/>
          <p:cNvSpPr>
            <a:spLocks noGrp="1"/>
          </p:cNvSpPr>
          <p:nvPr>
            <p:ph idx="1"/>
          </p:nvPr>
        </p:nvSpPr>
        <p:spPr>
          <a:xfrm>
            <a:off x="838200" y="772732"/>
            <a:ext cx="10515600" cy="5404231"/>
          </a:xfrm>
        </p:spPr>
        <p:txBody>
          <a:bodyPr>
            <a:normAutofit fontScale="92500"/>
          </a:bodyPr>
          <a:lstStyle/>
          <a:p>
            <a:pPr marL="0" indent="0">
              <a:buNone/>
            </a:pPr>
            <a:r>
              <a:rPr lang="en-US" altLang="zh-CN" b="1" u="sng" dirty="0">
                <a:hlinkClick r:id="rId3"/>
              </a:rPr>
              <a:t>Net zero needs AI — five actions to realize its promise</a:t>
            </a:r>
            <a:br>
              <a:rPr lang="en-US" altLang="zh-CN" b="1" u="sng" dirty="0">
                <a:hlinkClick r:id="rId3"/>
              </a:rPr>
            </a:br>
            <a:r>
              <a:rPr lang="zh-CN" altLang="en-US" b="1" u="sng" dirty="0">
                <a:hlinkClick r:id="rId3"/>
              </a:rPr>
              <a:t>净零排放需要人工智能</a:t>
            </a:r>
            <a:r>
              <a:rPr lang="en-US" altLang="zh-CN" b="1" u="sng" dirty="0">
                <a:hlinkClick r:id="rId3"/>
              </a:rPr>
              <a:t>——</a:t>
            </a:r>
            <a:r>
              <a:rPr lang="zh-CN" altLang="en-US" b="1" u="sng" dirty="0">
                <a:hlinkClick r:id="rId3"/>
              </a:rPr>
              <a:t>实现其承诺的五项行动</a:t>
            </a:r>
            <a:endParaRPr lang="zh-CN" altLang="en-US" b="1" dirty="0"/>
          </a:p>
          <a:p>
            <a:r>
              <a:rPr lang="en-US" altLang="zh-CN" dirty="0"/>
              <a:t>Without artificial-intelligence technologies, balancing human-caused greenhouse-gas emissions with carbon removals by 2050 is out of reach. Action in five areas is needed to keep this goal alive.</a:t>
            </a:r>
            <a:br>
              <a:rPr lang="en-US" altLang="zh-CN" dirty="0"/>
            </a:br>
            <a:r>
              <a:rPr lang="zh-CN" altLang="en-US" dirty="0"/>
              <a:t>如果没有人工智能技术，到 </a:t>
            </a:r>
            <a:r>
              <a:rPr lang="en-US" altLang="zh-CN" dirty="0"/>
              <a:t>2050 </a:t>
            </a:r>
            <a:r>
              <a:rPr lang="zh-CN" altLang="en-US" dirty="0"/>
              <a:t>年平衡人为温室气体排放与碳清除是遥不可及的。需要在五个领域采取行动来保持这一目标的活力。</a:t>
            </a:r>
          </a:p>
          <a:p>
            <a:pPr marL="0" indent="0">
              <a:buNone/>
            </a:pPr>
            <a:r>
              <a:rPr lang="en-US" altLang="zh-CN" b="1" u="sng" dirty="0">
                <a:hlinkClick r:id="rId4"/>
              </a:rPr>
              <a:t>Climate models need more frequent releases of input data — here’s how to do it</a:t>
            </a:r>
            <a:br>
              <a:rPr lang="en-US" altLang="zh-CN" b="1" u="sng" dirty="0">
                <a:hlinkClick r:id="rId4"/>
              </a:rPr>
            </a:br>
            <a:r>
              <a:rPr lang="zh-CN" altLang="en-US" b="1" u="sng" dirty="0">
                <a:hlinkClick r:id="rId4"/>
              </a:rPr>
              <a:t>气候模型需要更频繁地发布输入数据</a:t>
            </a:r>
            <a:r>
              <a:rPr lang="en-US" altLang="zh-CN" b="1" u="sng" dirty="0">
                <a:hlinkClick r:id="rId4"/>
              </a:rPr>
              <a:t>——</a:t>
            </a:r>
            <a:r>
              <a:rPr lang="zh-CN" altLang="en-US" b="1" u="sng" dirty="0">
                <a:hlinkClick r:id="rId4"/>
              </a:rPr>
              <a:t>具体方法如下</a:t>
            </a:r>
            <a:endParaRPr lang="zh-CN" altLang="en-US" b="1" dirty="0"/>
          </a:p>
          <a:p>
            <a:r>
              <a:rPr lang="en-US" altLang="zh-CN" dirty="0"/>
              <a:t>Annual updates to ‘climate forcing’ data sets would allow simulations to keep pace as global warming accelerates.</a:t>
            </a:r>
            <a:br>
              <a:rPr lang="en-US" altLang="zh-CN" dirty="0"/>
            </a:br>
            <a:r>
              <a:rPr lang="en-US" altLang="zh-CN" dirty="0"/>
              <a:t>“</a:t>
            </a:r>
            <a:r>
              <a:rPr lang="zh-CN" altLang="en-US" dirty="0"/>
              <a:t>气候强迫”数据集的年度更新将使模拟能够跟上全球变暖加速的步伐。</a:t>
            </a:r>
          </a:p>
        </p:txBody>
      </p:sp>
    </p:spTree>
    <p:extLst>
      <p:ext uri="{BB962C8B-B14F-4D97-AF65-F5344CB8AC3E}">
        <p14:creationId xmlns:p14="http://schemas.microsoft.com/office/powerpoint/2010/main" val="358786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a:t>
            </a:r>
            <a:r>
              <a:rPr lang="en-US" altLang="zh-CN" b="1" u="sng" dirty="0">
                <a:solidFill>
                  <a:srgbClr val="FFC000"/>
                </a:solidFill>
              </a:rPr>
              <a:t>News &amp; Views</a:t>
            </a:r>
            <a:r>
              <a:rPr lang="en-US" altLang="zh-CN" b="1" dirty="0"/>
              <a:t>  Volume 644 Issue 8078, 28 Aug 2025</a:t>
            </a:r>
            <a:endParaRPr lang="zh-CN" altLang="en-US" dirty="0"/>
          </a:p>
        </p:txBody>
      </p:sp>
      <p:pic>
        <p:nvPicPr>
          <p:cNvPr id="4" name="图片 3"/>
          <p:cNvPicPr>
            <a:picLocks noChangeAspect="1"/>
          </p:cNvPicPr>
          <p:nvPr/>
        </p:nvPicPr>
        <p:blipFill>
          <a:blip r:embed="rId2"/>
          <a:stretch>
            <a:fillRect/>
          </a:stretch>
        </p:blipFill>
        <p:spPr>
          <a:xfrm>
            <a:off x="0" y="5911433"/>
            <a:ext cx="713167" cy="946567"/>
          </a:xfrm>
          <a:prstGeom prst="rect">
            <a:avLst/>
          </a:prstGeom>
        </p:spPr>
      </p:pic>
      <p:sp>
        <p:nvSpPr>
          <p:cNvPr id="6" name="内容占位符 5"/>
          <p:cNvSpPr>
            <a:spLocks noGrp="1"/>
          </p:cNvSpPr>
          <p:nvPr>
            <p:ph idx="1"/>
          </p:nvPr>
        </p:nvSpPr>
        <p:spPr>
          <a:xfrm>
            <a:off x="812442" y="669701"/>
            <a:ext cx="9567930" cy="6078829"/>
          </a:xfrm>
        </p:spPr>
        <p:txBody>
          <a:bodyPr>
            <a:normAutofit fontScale="47500" lnSpcReduction="20000"/>
          </a:bodyPr>
          <a:lstStyle/>
          <a:p>
            <a:pPr marL="0" indent="0">
              <a:buNone/>
            </a:pPr>
            <a:r>
              <a:rPr lang="en-US" altLang="zh-CN" b="1" u="sng" dirty="0">
                <a:hlinkClick r:id="rId3"/>
              </a:rPr>
              <a:t>Gully formation in cities is displacing tens of thousands of people </a:t>
            </a:r>
            <a:r>
              <a:rPr lang="zh-CN" altLang="en-US" b="1" u="sng" dirty="0">
                <a:hlinkClick r:id="rId3"/>
              </a:rPr>
              <a:t>城市沟壑的形成正在导致数万人流离失所</a:t>
            </a:r>
            <a:endParaRPr lang="zh-CN" altLang="en-US" b="1" dirty="0"/>
          </a:p>
          <a:p>
            <a:r>
              <a:rPr lang="en-US" altLang="zh-CN" dirty="0"/>
              <a:t>Gullies are incising into rapidly developing tropical cities. An analysis in the Democratic Republic of the Congo casts light on the extent and effect of this on city dwellers.</a:t>
            </a:r>
          </a:p>
          <a:p>
            <a:r>
              <a:rPr lang="zh-CN" altLang="en-US" dirty="0"/>
              <a:t>沟壑正在切入快速发展的热带城市。刚果民主共和国的一项分析揭示了这种情况对城市居民的程度和影响。</a:t>
            </a:r>
          </a:p>
          <a:p>
            <a:pPr marL="0" indent="0">
              <a:buNone/>
            </a:pPr>
            <a:r>
              <a:rPr lang="en-US" altLang="zh-CN" b="1" u="sng" dirty="0">
                <a:hlinkClick r:id="rId4"/>
              </a:rPr>
              <a:t>Origins of life: the molecules that could have unlocked peptide synthesis </a:t>
            </a:r>
            <a:r>
              <a:rPr lang="zh-CN" altLang="en-US" b="1" u="sng" dirty="0">
                <a:hlinkClick r:id="rId4"/>
              </a:rPr>
              <a:t>生命的起源：可能解锁肽合成的分子</a:t>
            </a:r>
            <a:endParaRPr lang="zh-CN" altLang="en-US" b="1" dirty="0"/>
          </a:p>
          <a:p>
            <a:r>
              <a:rPr lang="en-US" altLang="zh-CN" dirty="0"/>
              <a:t>For life to emerge on Earth, peptides must first have formed without the aid of enzymes — but how? Reactions of sulfur-containing molecules might have been key.</a:t>
            </a:r>
          </a:p>
          <a:p>
            <a:r>
              <a:rPr lang="zh-CN" altLang="en-US" dirty="0"/>
              <a:t>为了在地球上出现生命，肽必须首先在没有酶帮助的情况下形成</a:t>
            </a:r>
            <a:r>
              <a:rPr lang="en-US" altLang="zh-CN" dirty="0"/>
              <a:t>——</a:t>
            </a:r>
            <a:r>
              <a:rPr lang="zh-CN" altLang="en-US" dirty="0"/>
              <a:t>但如何形成呢？</a:t>
            </a:r>
            <a:r>
              <a:rPr lang="zh-CN" altLang="en-US" b="1" dirty="0">
                <a:solidFill>
                  <a:srgbClr val="FFC000"/>
                </a:solidFill>
              </a:rPr>
              <a:t>含硫分子的反应可能是关键</a:t>
            </a:r>
            <a:r>
              <a:rPr lang="zh-CN" altLang="en-US" dirty="0"/>
              <a:t>。</a:t>
            </a:r>
          </a:p>
          <a:p>
            <a:pPr marL="0" indent="0">
              <a:buNone/>
            </a:pPr>
            <a:r>
              <a:rPr lang="en-US" altLang="zh-CN" b="1" u="sng" dirty="0">
                <a:hlinkClick r:id="rId5"/>
              </a:rPr>
              <a:t>Genome doubling fuels ovarian cancer evolution and immune dysregulation </a:t>
            </a:r>
            <a:r>
              <a:rPr lang="zh-CN" altLang="en-US" b="1" u="sng" dirty="0">
                <a:hlinkClick r:id="rId5"/>
              </a:rPr>
              <a:t>基因组倍增助长卵巢癌进化和免疫失调</a:t>
            </a:r>
            <a:endParaRPr lang="zh-CN" altLang="en-US" b="1" dirty="0"/>
          </a:p>
          <a:p>
            <a:pPr>
              <a:lnSpc>
                <a:spcPct val="120000"/>
              </a:lnSpc>
            </a:pPr>
            <a:r>
              <a:rPr lang="en-US" altLang="zh-CN" dirty="0"/>
              <a:t>Single-cell analysis reveals the extent of genome doubling in ovarian cancer, its variability and its role in enabling </a:t>
            </a:r>
            <a:r>
              <a:rPr lang="en-US" altLang="zh-CN" dirty="0" err="1"/>
              <a:t>tumours</a:t>
            </a:r>
            <a:r>
              <a:rPr lang="en-US" altLang="zh-CN" dirty="0"/>
              <a:t> to evade the immune system. </a:t>
            </a:r>
            <a:r>
              <a:rPr lang="zh-CN" altLang="en-US" dirty="0"/>
              <a:t>单细胞分析揭示了卵巢癌中基因组加倍的程度、其变异性及其在使肿瘤逃避免疫系统方面的作用。</a:t>
            </a:r>
          </a:p>
          <a:p>
            <a:pPr marL="0" indent="0">
              <a:buNone/>
            </a:pPr>
            <a:r>
              <a:rPr lang="en-US" altLang="zh-CN" b="1" u="sng" dirty="0">
                <a:hlinkClick r:id="rId6"/>
              </a:rPr>
              <a:t>Could machine learning help to build a unified theory of cognition? </a:t>
            </a:r>
            <a:r>
              <a:rPr lang="zh-CN" altLang="en-US" b="1" u="sng" dirty="0">
                <a:hlinkClick r:id="rId6"/>
              </a:rPr>
              <a:t>机器学习是否有助于建立统一的认知理论？</a:t>
            </a:r>
            <a:endParaRPr lang="zh-CN" altLang="en-US" b="1" dirty="0"/>
          </a:p>
          <a:p>
            <a:r>
              <a:rPr lang="en-US" altLang="zh-CN" dirty="0"/>
              <a:t>Two distinct computational approaches provide opportunities for bringing together different theories of cognition.</a:t>
            </a:r>
          </a:p>
          <a:p>
            <a:r>
              <a:rPr lang="zh-CN" altLang="en-US" dirty="0"/>
              <a:t>两种不同的计算方法为将不同的认知理论结合在一起提供了机会。</a:t>
            </a:r>
          </a:p>
          <a:p>
            <a:pPr marL="0" indent="0">
              <a:buNone/>
            </a:pPr>
            <a:r>
              <a:rPr lang="en-US" altLang="zh-CN" b="1" u="sng" dirty="0">
                <a:hlinkClick r:id="rId7"/>
              </a:rPr>
              <a:t>Breaking point: mechanical stress helps NINJ1 protein to rupture membranes </a:t>
            </a:r>
            <a:r>
              <a:rPr lang="zh-CN" altLang="en-US" b="1" u="sng" dirty="0">
                <a:hlinkClick r:id="rId7"/>
              </a:rPr>
              <a:t>爆点：机械应力帮助 </a:t>
            </a:r>
            <a:r>
              <a:rPr lang="en-US" altLang="zh-CN" b="1" u="sng" dirty="0">
                <a:hlinkClick r:id="rId7"/>
              </a:rPr>
              <a:t>NINJ1 </a:t>
            </a:r>
            <a:r>
              <a:rPr lang="zh-CN" altLang="en-US" b="1" u="sng" dirty="0">
                <a:hlinkClick r:id="rId7"/>
              </a:rPr>
              <a:t>蛋白破膜</a:t>
            </a:r>
            <a:endParaRPr lang="zh-CN" altLang="en-US" b="1" dirty="0"/>
          </a:p>
          <a:p>
            <a:r>
              <a:rPr lang="en-US" altLang="zh-CN" dirty="0"/>
              <a:t>The protein NINJ1 enables cells to break open during certain types of cell death. Modulation of physical forces on the membrane reveals how NINJ1 acts.</a:t>
            </a:r>
          </a:p>
          <a:p>
            <a:r>
              <a:rPr lang="zh-CN" altLang="en-US" dirty="0"/>
              <a:t>蛋白质 </a:t>
            </a:r>
            <a:r>
              <a:rPr lang="en-US" altLang="zh-CN" dirty="0"/>
              <a:t>NINJ1 </a:t>
            </a:r>
            <a:r>
              <a:rPr lang="zh-CN" altLang="en-US" dirty="0"/>
              <a:t>使细胞能够在某些类型的细胞死亡期间破裂。膜上物理力的调节揭示了 </a:t>
            </a:r>
            <a:r>
              <a:rPr lang="en-US" altLang="zh-CN" dirty="0"/>
              <a:t>NINJ1 </a:t>
            </a:r>
            <a:r>
              <a:rPr lang="zh-CN" altLang="en-US" dirty="0"/>
              <a:t>的作用方式。</a:t>
            </a:r>
          </a:p>
          <a:p>
            <a:pPr marL="0" indent="0">
              <a:buNone/>
            </a:pPr>
            <a:r>
              <a:rPr lang="en-US" altLang="zh-CN" b="1" u="sng" dirty="0">
                <a:hlinkClick r:id="rId8"/>
              </a:rPr>
              <a:t>A baby benefits from personalized gene editing in the clinic </a:t>
            </a:r>
            <a:r>
              <a:rPr lang="zh-CN" altLang="en-US" b="1" u="sng" dirty="0">
                <a:hlinkClick r:id="rId8"/>
              </a:rPr>
              <a:t>婴儿受益于诊所的个性化基因编辑</a:t>
            </a:r>
            <a:endParaRPr lang="zh-CN" altLang="en-US" b="1" dirty="0"/>
          </a:p>
          <a:p>
            <a:r>
              <a:rPr lang="en-US" altLang="zh-CN" dirty="0"/>
              <a:t>An infant with an inherited life-threatening metabolic condition has responded to a tailored therapy that uses the gene-editing tool CRISPR to correct a specific mutation.</a:t>
            </a:r>
            <a:br>
              <a:rPr lang="en-US" altLang="zh-CN" dirty="0"/>
            </a:br>
            <a:r>
              <a:rPr lang="zh-CN" altLang="en-US" dirty="0"/>
              <a:t>一名患有遗传性危及生命的代谢疾病的婴儿对使用基因编辑工具 </a:t>
            </a:r>
            <a:r>
              <a:rPr lang="en-US" altLang="zh-CN" dirty="0"/>
              <a:t>CRISPR </a:t>
            </a:r>
            <a:r>
              <a:rPr lang="zh-CN" altLang="en-US" dirty="0"/>
              <a:t>来纠正特定突变的定制疗法产生了反应。</a:t>
            </a:r>
          </a:p>
          <a:p>
            <a:pPr marL="0" indent="0">
              <a:buNone/>
            </a:pPr>
            <a:r>
              <a:rPr lang="en-US" altLang="zh-CN" b="1" u="sng" dirty="0">
                <a:hlinkClick r:id="rId9"/>
              </a:rPr>
              <a:t>Machine-learning model generates images using light </a:t>
            </a:r>
            <a:r>
              <a:rPr lang="zh-CN" altLang="en-US" b="1" u="sng" dirty="0">
                <a:hlinkClick r:id="rId9"/>
              </a:rPr>
              <a:t>机器学习模型使用光生成图像</a:t>
            </a:r>
            <a:endParaRPr lang="zh-CN" altLang="en-US" b="1" dirty="0"/>
          </a:p>
          <a:p>
            <a:pPr>
              <a:lnSpc>
                <a:spcPct val="120000"/>
              </a:lnSpc>
            </a:pPr>
            <a:r>
              <a:rPr lang="en-US" altLang="zh-CN" dirty="0"/>
              <a:t>An optical system that induces random fluctuations in a laser beam could be faster and more efficient at generating images than conventional computers are.  </a:t>
            </a:r>
            <a:r>
              <a:rPr lang="zh-CN" altLang="en-US" dirty="0"/>
              <a:t>在激光束中引起随机波动的光学系统在生成图像方面可能比传统计算机更快、更高效。</a:t>
            </a:r>
          </a:p>
        </p:txBody>
      </p:sp>
    </p:spTree>
    <p:extLst>
      <p:ext uri="{BB962C8B-B14F-4D97-AF65-F5344CB8AC3E}">
        <p14:creationId xmlns:p14="http://schemas.microsoft.com/office/powerpoint/2010/main" val="3147383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614363"/>
          </a:xfrm>
        </p:spPr>
        <p:txBody>
          <a:bodyPr>
            <a:normAutofit fontScale="90000"/>
          </a:bodyPr>
          <a:lstStyle/>
          <a:p>
            <a:r>
              <a:rPr lang="en-US" altLang="zh-CN" b="1" dirty="0"/>
              <a:t>Nature </a:t>
            </a:r>
            <a:r>
              <a:rPr lang="en-US" altLang="zh-CN" b="1" u="sng" dirty="0">
                <a:solidFill>
                  <a:srgbClr val="FFC000"/>
                </a:solidFill>
              </a:rPr>
              <a:t>Articles</a:t>
            </a:r>
            <a:r>
              <a:rPr lang="en-US" altLang="zh-CN" b="1" dirty="0"/>
              <a:t>     Volume 644 Issue 8078, 28 August 2025</a:t>
            </a:r>
            <a:endParaRPr lang="zh-CN" altLang="en-US" dirty="0"/>
          </a:p>
        </p:txBody>
      </p:sp>
      <p:pic>
        <p:nvPicPr>
          <p:cNvPr id="4" name="图片 3"/>
          <p:cNvPicPr>
            <a:picLocks noChangeAspect="1"/>
          </p:cNvPicPr>
          <p:nvPr/>
        </p:nvPicPr>
        <p:blipFill>
          <a:blip r:embed="rId2"/>
          <a:stretch>
            <a:fillRect/>
          </a:stretch>
        </p:blipFill>
        <p:spPr>
          <a:xfrm>
            <a:off x="0" y="5911433"/>
            <a:ext cx="713167" cy="946567"/>
          </a:xfrm>
          <a:prstGeom prst="rect">
            <a:avLst/>
          </a:prstGeom>
        </p:spPr>
      </p:pic>
      <p:sp>
        <p:nvSpPr>
          <p:cNvPr id="6" name="内容占位符 5"/>
          <p:cNvSpPr>
            <a:spLocks noGrp="1"/>
          </p:cNvSpPr>
          <p:nvPr>
            <p:ph idx="1"/>
          </p:nvPr>
        </p:nvSpPr>
        <p:spPr>
          <a:xfrm>
            <a:off x="838200" y="682580"/>
            <a:ext cx="10515600" cy="5898524"/>
          </a:xfrm>
        </p:spPr>
        <p:txBody>
          <a:bodyPr>
            <a:normAutofit fontScale="62500" lnSpcReduction="20000"/>
          </a:bodyPr>
          <a:lstStyle/>
          <a:p>
            <a:pPr marL="0" indent="0">
              <a:lnSpc>
                <a:spcPct val="120000"/>
              </a:lnSpc>
              <a:buNone/>
            </a:pPr>
            <a:r>
              <a:rPr lang="en-US" altLang="zh-CN" b="1" u="sng" dirty="0">
                <a:hlinkClick r:id="rId3"/>
              </a:rPr>
              <a:t>Realization of a doped quantum </a:t>
            </a:r>
            <a:r>
              <a:rPr lang="en-US" altLang="zh-CN" b="1" u="sng" dirty="0" err="1">
                <a:hlinkClick r:id="rId3"/>
              </a:rPr>
              <a:t>antiferromagnet</a:t>
            </a:r>
            <a:r>
              <a:rPr lang="en-US" altLang="zh-CN" b="1" u="sng" dirty="0">
                <a:hlinkClick r:id="rId3"/>
              </a:rPr>
              <a:t> in a Rydberg tweezer array</a:t>
            </a:r>
            <a:br>
              <a:rPr lang="en-US" altLang="zh-CN" b="1" u="sng" dirty="0">
                <a:hlinkClick r:id="rId3"/>
              </a:rPr>
            </a:br>
            <a:r>
              <a:rPr lang="zh-CN" altLang="en-US" b="1" u="sng" dirty="0">
                <a:hlinkClick r:id="rId3"/>
              </a:rPr>
              <a:t>在里德堡镊子阵列中实现掺杂量子反铁磁体</a:t>
            </a:r>
            <a:endParaRPr lang="zh-CN" altLang="en-US" b="1" dirty="0"/>
          </a:p>
          <a:p>
            <a:r>
              <a:rPr lang="en-US" altLang="zh-CN" dirty="0"/>
              <a:t>A doped quantum </a:t>
            </a:r>
            <a:r>
              <a:rPr lang="en-US" altLang="zh-CN" dirty="0" err="1"/>
              <a:t>antiferromagnet</a:t>
            </a:r>
            <a:r>
              <a:rPr lang="en-US" altLang="zh-CN" dirty="0"/>
              <a:t> is obtained by using a Rydberg tweezer array comprising three levels encoding spins and holes to implement a tunable model that allows the study of previously inaccessible parameter regimes.</a:t>
            </a:r>
          </a:p>
          <a:p>
            <a:pPr>
              <a:lnSpc>
                <a:spcPct val="120000"/>
              </a:lnSpc>
            </a:pPr>
            <a:r>
              <a:rPr lang="zh-CN" altLang="en-US" dirty="0"/>
              <a:t>掺杂量子反铁磁体是通过使用里德堡镊子阵列获得的，该阵列包含编码自旋和空穴的三个级别，以实现可调模型，该模型允许研究以前无法访问的参数状态。</a:t>
            </a:r>
          </a:p>
          <a:p>
            <a:pPr marL="0" indent="0">
              <a:lnSpc>
                <a:spcPct val="120000"/>
              </a:lnSpc>
              <a:buNone/>
            </a:pPr>
            <a:r>
              <a:rPr lang="en-US" altLang="zh-CN" b="1" u="sng" dirty="0">
                <a:hlinkClick r:id="rId4"/>
              </a:rPr>
              <a:t>Optical control of resonances in temporally symmetry-broken </a:t>
            </a:r>
            <a:r>
              <a:rPr lang="en-US" altLang="zh-CN" b="1" u="sng" dirty="0" err="1">
                <a:hlinkClick r:id="rId4"/>
              </a:rPr>
              <a:t>metasurfaces</a:t>
            </a:r>
            <a:br>
              <a:rPr lang="en-US" altLang="zh-CN" b="1" u="sng" dirty="0">
                <a:hlinkClick r:id="rId4"/>
              </a:rPr>
            </a:br>
            <a:r>
              <a:rPr lang="zh-CN" altLang="en-US" b="1" u="sng" dirty="0">
                <a:hlinkClick r:id="rId4"/>
              </a:rPr>
              <a:t>时间对称性破损超表面共振的光学控制</a:t>
            </a:r>
            <a:endParaRPr lang="zh-CN" altLang="en-US" b="1" dirty="0"/>
          </a:p>
          <a:p>
            <a:r>
              <a:rPr lang="en-US" altLang="zh-CN" dirty="0"/>
              <a:t>The ultrafast optical control of resonances in temporally symmetry-broken </a:t>
            </a:r>
            <a:r>
              <a:rPr lang="en-US" altLang="zh-CN" dirty="0" err="1"/>
              <a:t>metasurfaces</a:t>
            </a:r>
            <a:r>
              <a:rPr lang="en-US" altLang="zh-CN" dirty="0"/>
              <a:t> allows resonances to be created, annihilated or </a:t>
            </a:r>
            <a:r>
              <a:rPr lang="en-US" altLang="zh-CN" dirty="0" err="1"/>
              <a:t>programmably</a:t>
            </a:r>
            <a:r>
              <a:rPr lang="en-US" altLang="zh-CN" dirty="0"/>
              <a:t> manipulated, which is useful for applications that require active real-time </a:t>
            </a:r>
            <a:r>
              <a:rPr lang="en-US" altLang="zh-CN" dirty="0" err="1"/>
              <a:t>tunability</a:t>
            </a:r>
            <a:r>
              <a:rPr lang="en-US" altLang="zh-CN" dirty="0"/>
              <a:t>.</a:t>
            </a:r>
          </a:p>
          <a:p>
            <a:pPr>
              <a:lnSpc>
                <a:spcPct val="120000"/>
              </a:lnSpc>
            </a:pPr>
            <a:r>
              <a:rPr lang="zh-CN" altLang="en-US" dirty="0"/>
              <a:t>对时间对称性破损的超表面中共振的超快光学控制允许创建、湮灭或可编程操纵共振，这对于需要主动实时可调性的应用非常有用。</a:t>
            </a:r>
          </a:p>
          <a:p>
            <a:pPr marL="0" indent="0">
              <a:buNone/>
            </a:pPr>
            <a:r>
              <a:rPr lang="en-US" altLang="zh-CN" b="1" u="sng" dirty="0">
                <a:hlinkClick r:id="rId5"/>
              </a:rPr>
              <a:t>Optical generative models </a:t>
            </a:r>
            <a:r>
              <a:rPr lang="zh-CN" altLang="en-US" b="1" u="sng" dirty="0">
                <a:hlinkClick r:id="rId5"/>
              </a:rPr>
              <a:t>光学生成模型</a:t>
            </a:r>
            <a:endParaRPr lang="zh-CN" altLang="en-US" b="1" dirty="0"/>
          </a:p>
          <a:p>
            <a:r>
              <a:rPr lang="en-US" altLang="zh-CN" dirty="0"/>
              <a:t>Optical generative models are demonstrated for the rapid and power-efficient creation of never-seen-before images of handwritten digits, fashion products, butterflies, human faces and Van Gogh-style artworks.</a:t>
            </a:r>
          </a:p>
          <a:p>
            <a:pPr>
              <a:lnSpc>
                <a:spcPct val="120000"/>
              </a:lnSpc>
            </a:pPr>
            <a:r>
              <a:rPr lang="zh-CN" altLang="en-US" dirty="0"/>
              <a:t>光学生成模型被证明可以快速、节能地创建前所未见的手写数字、时尚产品、蝴蝶、人脸和梵高风格艺术品的图像。</a:t>
            </a:r>
          </a:p>
          <a:p>
            <a:pPr marL="0" indent="0">
              <a:buNone/>
            </a:pPr>
            <a:endParaRPr lang="zh-CN" altLang="en-US" dirty="0"/>
          </a:p>
        </p:txBody>
      </p:sp>
    </p:spTree>
    <p:extLst>
      <p:ext uri="{BB962C8B-B14F-4D97-AF65-F5344CB8AC3E}">
        <p14:creationId xmlns:p14="http://schemas.microsoft.com/office/powerpoint/2010/main" val="2188732592"/>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3">
      <a:dk1>
        <a:srgbClr val="000000"/>
      </a:dk1>
      <a:lt1>
        <a:sysClr val="window" lastClr="FFFFFF"/>
      </a:lt1>
      <a:dk2>
        <a:srgbClr val="FFFFFF"/>
      </a:dk2>
      <a:lt2>
        <a:srgbClr val="FFFFFF"/>
      </a:lt2>
      <a:accent1>
        <a:srgbClr val="FFC000"/>
      </a:accent1>
      <a:accent2>
        <a:srgbClr val="ED7D31"/>
      </a:accent2>
      <a:accent3>
        <a:srgbClr val="FFFFFF"/>
      </a:accent3>
      <a:accent4>
        <a:srgbClr val="FFC000"/>
      </a:accent4>
      <a:accent5>
        <a:srgbClr val="4472C4"/>
      </a:accent5>
      <a:accent6>
        <a:srgbClr val="70AD47"/>
      </a:accent6>
      <a:hlink>
        <a:srgbClr val="FFC000"/>
      </a:hlink>
      <a:folHlink>
        <a:srgbClr val="92D050"/>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otalTime>1</TotalTime>
  <Words>4190</Words>
  <Application>Microsoft Office PowerPoint</Application>
  <PresentationFormat>宽屏</PresentationFormat>
  <Paragraphs>157</Paragraphs>
  <Slides>16</Slides>
  <Notes>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16</vt:i4>
      </vt:variant>
    </vt:vector>
  </HeadingPairs>
  <TitlesOfParts>
    <vt:vector size="21" baseType="lpstr">
      <vt:lpstr>Arial</vt:lpstr>
      <vt:lpstr>Calibri</vt:lpstr>
      <vt:lpstr>Calibri Light</vt:lpstr>
      <vt:lpstr>WPS</vt:lpstr>
      <vt:lpstr>Office Theme</vt:lpstr>
      <vt:lpstr>Nature                     Volume 644 Issue 8078, 28 August 2025</vt:lpstr>
      <vt:lpstr>Nature                     Volume 644 Issue 8078, 28 August 2025</vt:lpstr>
      <vt:lpstr>Nature Research Highlight Vol 644 Issue 8078, 28 Aug 2025</vt:lpstr>
      <vt:lpstr>Nature NEWS        Volume 644 Issue 8078, 28 August 2025</vt:lpstr>
      <vt:lpstr>Nature NEWS        Volume 644 Issue 8078, 28 August 2025</vt:lpstr>
      <vt:lpstr>Nature Comment  Volume 644 Issue 8078, 28 August 2025</vt:lpstr>
      <vt:lpstr>Nature News &amp; Views  Volume 644 Issue 8078, 28 Aug 2025</vt:lpstr>
      <vt:lpstr>Nature Articles     Volume 644 Issue 8078, 28 August 2025</vt:lpstr>
      <vt:lpstr>Nature Articles     Volume 644 Issue 8078, 28 August 2025</vt:lpstr>
      <vt:lpstr>Nature Articles     Volume 644 Issue 8078, 28 August 2025</vt:lpstr>
      <vt:lpstr>Nature Articles     Volume 644 Issue 8078, 28 August 2025</vt:lpstr>
      <vt:lpstr>Nature Articles     Volume 644 Issue 8078, 28 August 2025</vt:lpstr>
      <vt:lpstr>Nature Articles     Volume 644 Issue 8078, 28 August 2025</vt:lpstr>
      <vt:lpstr>Nature Articles     Volume 644 Issue 8078, 28 August 2025</vt:lpstr>
      <vt:lpstr>Nature Articles     Volume 644 Issue 8078, 28 August 2025</vt:lpstr>
      <vt:lpstr>Nature Articles     Volume 644 Issue 8078, 28 August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cp:revision>
  <dcterms:created xsi:type="dcterms:W3CDTF">2023-08-09T12:44:00Z</dcterms:created>
  <dcterms:modified xsi:type="dcterms:W3CDTF">2026-05-21T14:55:24Z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